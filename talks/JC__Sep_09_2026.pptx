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4"/>
  </p:notesMasterIdLst>
  <p:sldIdLst>
    <p:sldId id="256" r:id="rId2"/>
    <p:sldId id="291" r:id="rId3"/>
    <p:sldId id="284" r:id="rId4"/>
    <p:sldId id="285" r:id="rId5"/>
    <p:sldId id="287" r:id="rId6"/>
    <p:sldId id="286" r:id="rId7"/>
    <p:sldId id="288" r:id="rId8"/>
    <p:sldId id="294" r:id="rId9"/>
    <p:sldId id="289" r:id="rId10"/>
    <p:sldId id="295" r:id="rId11"/>
    <p:sldId id="293" r:id="rId12"/>
    <p:sldId id="290" r:id="rId13"/>
    <p:sldId id="292" r:id="rId14"/>
    <p:sldId id="296" r:id="rId15"/>
    <p:sldId id="297" r:id="rId16"/>
    <p:sldId id="277" r:id="rId17"/>
    <p:sldId id="299" r:id="rId18"/>
    <p:sldId id="258" r:id="rId19"/>
    <p:sldId id="259" r:id="rId20"/>
    <p:sldId id="260" r:id="rId21"/>
    <p:sldId id="305" r:id="rId22"/>
    <p:sldId id="300" r:id="rId23"/>
    <p:sldId id="261" r:id="rId24"/>
    <p:sldId id="262" r:id="rId25"/>
    <p:sldId id="263" r:id="rId26"/>
    <p:sldId id="306" r:id="rId27"/>
    <p:sldId id="301" r:id="rId28"/>
    <p:sldId id="264" r:id="rId29"/>
    <p:sldId id="265" r:id="rId30"/>
    <p:sldId id="266" r:id="rId31"/>
    <p:sldId id="307" r:id="rId32"/>
    <p:sldId id="302" r:id="rId33"/>
    <p:sldId id="267" r:id="rId34"/>
    <p:sldId id="268" r:id="rId35"/>
    <p:sldId id="269" r:id="rId36"/>
    <p:sldId id="308" r:id="rId37"/>
    <p:sldId id="303" r:id="rId38"/>
    <p:sldId id="270" r:id="rId39"/>
    <p:sldId id="271" r:id="rId40"/>
    <p:sldId id="272" r:id="rId41"/>
    <p:sldId id="273" r:id="rId42"/>
    <p:sldId id="274" r:id="rId43"/>
    <p:sldId id="275" r:id="rId44"/>
    <p:sldId id="309" r:id="rId45"/>
    <p:sldId id="304" r:id="rId46"/>
    <p:sldId id="276" r:id="rId47"/>
    <p:sldId id="278" r:id="rId48"/>
    <p:sldId id="279" r:id="rId49"/>
    <p:sldId id="280" r:id="rId50"/>
    <p:sldId id="281" r:id="rId51"/>
    <p:sldId id="282" r:id="rId52"/>
    <p:sldId id="283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E3C"/>
    <a:srgbClr val="FFFD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18" d="100"/>
          <a:sy n="118" d="100"/>
        </p:scale>
        <p:origin x="90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30A48-2821-7143-9FAD-9728F7239EFC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90F20-D3A8-4B4D-9607-4E62AA9EE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60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12A62-BA5C-AF23-60CF-62DE85763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3DA283-D1E4-B62B-CDBB-3BCE9B36A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AACBA4-8F7D-4440-C9AE-2D9DFFD86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FC38C-38D3-4F7A-2C64-50ADBC8BF7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90F20-D3A8-4B4D-9607-4E62AA9EEA1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656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A1129-D9C4-893B-A782-D228B8E14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721EE6-7B32-FB5F-0516-BBBB03C95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C2731B-7EF5-DDE5-298A-B06387FD0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40AB32-F4DD-9842-28A5-0F4291260F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90F20-D3A8-4B4D-9607-4E62AA9EEA1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795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83968-D65D-C9DA-B3A8-F461BE1FC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38E86F-4F73-1919-001F-9C51CA89C2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965C9D-4000-B562-7B3D-CF2E5B995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7A8BD-2582-802D-4A57-2E831BDC53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90F20-D3A8-4B4D-9607-4E62AA9EEA1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24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8328E-7FA7-7D6A-A853-57D815FFC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24C87E-44DD-CCC6-50CA-7495B1B30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BFE0FB-3A84-5370-C992-F9E5F01E4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104DE-AC9A-B819-11F0-744D54538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90F20-D3A8-4B4D-9607-4E62AA9EEA1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7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4FCAA-0008-969F-CF51-B9C801E3F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E6DD99-C22E-C193-1B24-9E5E167D3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57F877-4285-3ED0-A654-2C212ADDA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8295B-C35F-A2F6-AC66-67EC91537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90F20-D3A8-4B4D-9607-4E62AA9EEA1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358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B18A2-9CAA-861A-0F59-FD229E506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B5C319-5613-68DC-38D7-9C0FFE275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B5FC76-80C6-4AE0-1EA4-8EB0064F8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77A65-9EF0-3840-589C-61737F5519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90F20-D3A8-4B4D-9607-4E62AA9EEA1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70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45CDF-13E0-394F-FD13-33339B5E4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7B3E22-10AC-DC4E-8F4C-EEC42D3DB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3508FE-5913-EAF0-82E9-7CFABB7A3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8E8BC-787B-E78E-B14B-E84C814808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90F20-D3A8-4B4D-9607-4E62AA9EEA1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400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F94DE-027B-46AC-671B-A8317ADE5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A24AD-47F8-5084-42E0-7575205C1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621FB4-DB2A-56AF-31CF-D46B90A2D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B025E-1129-0811-BF5F-D1DAE0C958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90F20-D3A8-4B4D-9607-4E62AA9EEA1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1145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54BE7-B263-0D33-D8EE-A9D7E3328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DC6305-A0DC-CF26-B05F-656D40BB2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FCCE0A-1C73-613C-8F5A-9F90B703A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C66DB-3B20-CEA2-9F61-D06F50754E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90F20-D3A8-4B4D-9607-4E62AA9EEA1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54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A435B-1BA4-D9B1-7C37-C2BE06680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21B009-F8FA-C618-982F-CBB619D24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DA3D4-B61F-7F66-7137-2178AAC322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79037-24DE-03BF-F2C1-D8046159F3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90F20-D3A8-4B4D-9607-4E62AA9EEA1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9128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B08D1-67D5-C2AA-147A-504120B4F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472CBF-74E9-B566-A47A-31C56AD65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30DDF2-5756-696A-BF4E-812975194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8B21E-668A-531E-FFF9-7D40240E9F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90F20-D3A8-4B4D-9607-4E62AA9EEA1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5546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DE9A2-FCC2-49A9-3ECC-B463C7D8A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ED944F-80CD-EA7F-2A69-BD621E3DDB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1E2FD9-D919-0DA3-B51C-8CDD0BAB4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7D170-0E1E-3DC0-B8E2-F098A52E7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90F20-D3A8-4B4D-9607-4E62AA9EEA1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7687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CA1B0-3222-A8A2-FD62-646B0D2A0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D1087-4032-1C63-4C03-7586F400A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E29AF1-3128-804F-B89B-674508610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6F80A-DE4A-4A28-BA25-007976FF07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90F20-D3A8-4B4D-9607-4E62AA9EEA1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4132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9E557-2921-61BD-2A72-DDF172C11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82F07E-6709-7F34-8933-EDC25410B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8A8420-F912-6E3F-8C50-05CA96B67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66D5E-0493-909D-FC91-E3AD4ACDA4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90F20-D3A8-4B4D-9607-4E62AA9EEA1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9072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D2B6C-236C-A96A-E1C7-47E5FF37A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79E9C7-2C8E-BC53-5972-2B0CAB8C64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FC5FAC-49F2-B28D-39A1-BEEEC30693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0FCD3-EC3D-39A3-A846-37AA89859B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90F20-D3A8-4B4D-9607-4E62AA9EEA1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3332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EF26D-7A6A-C7D6-C2A3-B833D67B8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8731C3-0783-F0E9-E2C8-D88E40AF25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F4DFB0-9301-6AC1-B44F-1F6A81BED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A58E4-95FB-76E2-ED28-B5562F4672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90F20-D3A8-4B4D-9607-4E62AA9EEA1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6563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588D6-9149-D379-4868-942A7D7E4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3403BB-AEFC-7C88-AEE3-936CF3AED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BF02FB-ACEF-7F00-D1FB-F767CECE0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F8803-AFF4-531A-B858-82E6F9C880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90F20-D3A8-4B4D-9607-4E62AA9EEA1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9571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8B90E-7B08-F3E2-0C4D-9CF56FFD4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9D7335-BD4C-2EEA-9B0E-7D5F0EB55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5EFE89-F7B4-DC25-4BBF-DB7700E554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5DECF-079F-D481-A080-2B8ABA6216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90F20-D3A8-4B4D-9607-4E62AA9EEA1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4449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F548D-53A7-175C-1BB9-E8FDE34EB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4AF22E-AAFE-4650-420F-9403588D0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65D192-7000-D652-6C7E-81E50BB48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5B52A-BD74-C95F-1A06-5C78B1A4F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90F20-D3A8-4B4D-9607-4E62AA9EEA1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815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15CAB-2BC7-4D28-B825-7CB840E34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C7A6C7-D728-17F1-1974-6C6161BDEA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0A5FF-8EBC-CE60-97F6-538C9CB3DF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D4DF4-062F-7E30-068C-2646FB8D16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90F20-D3A8-4B4D-9607-4E62AA9EEA1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28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3E5FA-A7A3-919B-F938-EAAEFCC8A8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C4F164-B23A-03A2-69B5-F2304EBD9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D16CA-6B11-9D81-BEFF-EE5D11A29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A9A80-921D-D54C-8E63-9A03938967B9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12F06-3BCD-444C-5A67-0C3A6AEB9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18EDF-E986-80D4-0AA6-570876BFC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8657F-1E9D-F440-B1B1-3CE8C1BE5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961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95EEF-02CD-C8DF-1075-BA5DD8E09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D6A40-40E9-8B86-3B33-BBBBDB6C9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6E212-6D7B-3128-0819-7114E30C1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A9A80-921D-D54C-8E63-9A03938967B9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C9DC0-A436-755C-3B59-A4820F23D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35D2C-A82B-4FCD-A513-409D4363F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8657F-1E9D-F440-B1B1-3CE8C1BE5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028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E7791-9D16-9392-B0C7-1C341A5A3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5D2F7-0143-55E3-027E-F3AD59F8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D5A56-9432-CCEB-CB31-ADD9ACCD4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A9A80-921D-D54C-8E63-9A03938967B9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E8BF7-9110-0D49-15A1-1560F42DC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B0181-D6B2-B5C8-AEA5-17D99034A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8657F-1E9D-F440-B1B1-3CE8C1BE5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59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B20B-A035-C8CC-141F-635F19367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FC2F2-D72C-2541-46FB-DCB9187A92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DDCCB-D3A3-3B84-7BE9-AE48D2079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6CEDD6-5C7A-B329-D8CC-8FE6675FC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A9A80-921D-D54C-8E63-9A03938967B9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E4005-54CF-0559-1B10-6E0D45EF8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E4DB2-D69E-1E27-1B6F-C80001FC3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8657F-1E9D-F440-B1B1-3CE8C1BE5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566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7A434-F12C-C13B-A43C-963AB4A4F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6B20E7-E6D1-2959-555B-34F6DC7FC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83AC30-401D-32A5-FE57-F2D16F5DB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55B3B-8890-838E-AE2B-416EF61A5F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6B19DE-D46D-D3FA-AFDD-321F602CD9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05323B-2DE2-C483-05C0-C6C32EF84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A9A80-921D-D54C-8E63-9A03938967B9}" type="datetimeFigureOut">
              <a:rPr lang="en-US" smtClean="0"/>
              <a:t>9/7/26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1C670E-6CBF-D415-007D-C9EE171E6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3572A8-DE65-F756-BA6F-636483D54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8657F-1E9D-F440-B1B1-3CE8C1BE5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231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790B6-FD68-5C51-ED5E-D00E17959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2886AC-EF28-DFAD-71DB-60B03C7A8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A9A80-921D-D54C-8E63-9A03938967B9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75C870-60FD-8E5E-D855-6C67EB32F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BF62E4-B8D6-6533-5859-09CE83253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8657F-1E9D-F440-B1B1-3CE8C1BE5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923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C6A4DF-0035-FF1F-F4D0-124F6A35F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A9A80-921D-D54C-8E63-9A03938967B9}" type="datetimeFigureOut">
              <a:rPr lang="en-US" smtClean="0"/>
              <a:t>9/7/26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D83F4D-ED01-59ED-6B7A-04843FA6D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9C0B9-CE46-6565-023A-EDA6B981D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8657F-1E9D-F440-B1B1-3CE8C1BE5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331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6C069-22D6-E18B-5229-B8A4630B2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48C93-62CD-E2E4-5266-97FE397C0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6E601-1A8E-851C-944D-3343C81B2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30C1C-59C1-9565-8FF1-73328006E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A9A80-921D-D54C-8E63-9A03938967B9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4FCA02-2717-5A57-45C9-B2CA721BD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C43CF-AA10-FF34-3378-CC40CF382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8657F-1E9D-F440-B1B1-3CE8C1BE5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60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648EE-A6E8-FF25-F0C0-B612E45F9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CC8473-072D-B35B-1C01-1BCF349216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402B03-4C13-4564-AE94-A8AFB12EF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BA7CB-05D0-01A5-4FDA-330C5987B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A9A80-921D-D54C-8E63-9A03938967B9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00C0BB-D66A-B5B0-9555-B37601A0D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4B4EC1-C39C-CD83-1D17-209139B1E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8657F-1E9D-F440-B1B1-3CE8C1BE5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507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1521-8D49-047E-9875-6722FE7C1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0A9E27-16CC-2736-8EC3-AE01E97DC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6F455-5AFA-50B9-7448-84053C25E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A9A80-921D-D54C-8E63-9A03938967B9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65F20-349F-3376-5E17-5EF731691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7B3A9-4908-2874-8E1A-D10E860AE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8657F-1E9D-F440-B1B1-3CE8C1BE5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547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8EDD5A-897A-6250-B102-CF9D8AC2F6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F432C2-AAD3-CDC2-0204-8E138EE27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97C40-F85A-0F51-796B-A28E37A01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A9A80-921D-D54C-8E63-9A03938967B9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72569-68E6-46B7-18C9-5ACB7CCED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DB059-568B-9A54-256D-2D609E5F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8657F-1E9D-F440-B1B1-3CE8C1BE5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354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C29F03-26DC-16B7-2626-80984B845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FB846-BD1A-3705-6D6F-331DA37B5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66E54-A7DA-95D5-BD5E-09E88FCE1D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7A9A80-921D-D54C-8E63-9A03938967B9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2D521-D11F-ED20-A382-DA156F1A39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3E395-D531-7A58-3EF4-2188B57D2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48657F-1E9D-F440-B1B1-3CE8C1BE5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23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A6AAAF0-F5ED-3F2A-FBE2-7B917CE09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8817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>
                <a:latin typeface="Avenir Book"/>
                <a:cs typeface="Courier New"/>
              </a:rPr>
              <a:t>Verbalizable Representations Form a Global Workspace in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2739763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28C09-8643-AA9B-DE18-CA41C9C32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D0A4A-BE6A-2A7D-EB19-3B2D1EF0D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Somehow figure out what a model is “thinking” by decoding its hidden state. </a:t>
            </a:r>
          </a:p>
        </p:txBody>
      </p:sp>
    </p:spTree>
    <p:extLst>
      <p:ext uri="{BB962C8B-B14F-4D97-AF65-F5344CB8AC3E}">
        <p14:creationId xmlns:p14="http://schemas.microsoft.com/office/powerpoint/2010/main" val="3531248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DDDE9-4443-90E4-6582-15E71F7A4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4446F-701F-DCD3-85C1-467341BA5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Avenir Book"/>
              </a:rPr>
              <a:t>The Logit Lens</a:t>
            </a:r>
            <a:endParaRPr lang="en-US">
              <a:latin typeface="Avenir Book" panose="02000503020000020003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FB94A4-24EF-0977-B96D-E06DA1AE63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 fontScale="92500"/>
              </a:bodyPr>
              <a:lstStyle/>
              <a:p>
                <a:pPr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/>
                  <a:t> be a transformer with hidden layers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/>
                  <a:t> and let </a:t>
                </a:r>
              </a:p>
              <a:p>
                <a:pPr>
                  <a:buNone/>
                </a:pPr>
                <a:endParaRPr lang="en-US" i="1">
                  <a:latin typeface="Cambria Math" panose="02040503050406030204" pitchFamily="18" charset="0"/>
                </a:endParaRPr>
              </a:p>
              <a:p>
                <a:pPr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dirty="0" smtClean="0"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dirty="0" smtClean="0"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∘⋯∘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. </a:t>
                </a:r>
              </a:p>
              <a:p>
                <a:pPr>
                  <a:buNone/>
                </a:pPr>
                <a:endParaRPr lang="en-US"/>
              </a:p>
              <a:p>
                <a:pPr>
                  <a:buNone/>
                </a:pPr>
                <a:r>
                  <a:rPr lang="en-US"/>
                  <a:t>Typically, the output of a transformer is given by </a:t>
                </a:r>
              </a:p>
              <a:p>
                <a:pPr algn="ctr">
                  <a:buNone/>
                </a:pPr>
                <a:endParaRPr lang="en-US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norm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b="0"/>
              </a:p>
              <a:p>
                <a:pPr>
                  <a:buNone/>
                </a:pPr>
                <a:endParaRPr lang="en-US"/>
              </a:p>
              <a:p>
                <a:pPr>
                  <a:buNone/>
                </a:pPr>
                <a:r>
                  <a:rPr lang="en-US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/>
                  <a:t> is the embedding matrix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</m:oMath>
                </a14:m>
                <a:r>
                  <a:rPr lang="en-US"/>
                  <a:t> is the “unembedding matrix.”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FB94A4-24EF-0977-B96D-E06DA1AE63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8620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C4183-983B-DAEB-031E-320CFF52E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9ED77-AF8D-F3DA-EF8F-EFFB28A3F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Avenir Book"/>
              </a:rPr>
              <a:t>The Logit Lens</a:t>
            </a:r>
            <a:endParaRPr lang="en-US">
              <a:latin typeface="Avenir Book" panose="02000503020000020003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53E0D4-E4B8-71FA-5687-79347EA8DD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 fontScale="85000" lnSpcReduction="20000"/>
              </a:bodyPr>
              <a:lstStyle/>
              <a:p>
                <a:pPr>
                  <a:buNone/>
                </a:pPr>
                <a:r>
                  <a:rPr lang="en-US"/>
                  <a:t>Typically, the output of a transformer is given by </a:t>
                </a:r>
              </a:p>
              <a:p>
                <a:pPr algn="ctr">
                  <a:buNone/>
                </a:pPr>
                <a:endParaRPr lang="en-US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norm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b="0"/>
              </a:p>
              <a:p>
                <a:pPr>
                  <a:buNone/>
                </a:pPr>
                <a:endParaRPr lang="en-US"/>
              </a:p>
              <a:p>
                <a:pPr>
                  <a:buNone/>
                </a:pPr>
                <a:r>
                  <a:rPr lang="en-US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/>
                  <a:t> is the embedding matrix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</m:oMath>
                </a14:m>
                <a:r>
                  <a:rPr lang="en-US"/>
                  <a:t> is the “unembedding matrix.”</a:t>
                </a:r>
              </a:p>
              <a:p>
                <a:pPr>
                  <a:buNone/>
                </a:pPr>
                <a:endParaRPr lang="en-US"/>
              </a:p>
              <a:p>
                <a:pPr>
                  <a:buNone/>
                </a:pPr>
                <a:r>
                  <a:rPr lang="en-US"/>
                  <a:t>Logit lens is the simple procedure of varying the layer L. That is,</a:t>
                </a:r>
              </a:p>
              <a:p>
                <a:pPr>
                  <a:buNone/>
                </a:pPr>
                <a:endParaRPr lang="en-US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len</m:t>
                      </m:r>
                      <m:sSub>
                        <m:sSubPr>
                          <m:ctrlPr>
                            <a:rPr lang="en-US" i="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sub>
                      </m:sSub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norm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algn="ctr">
                  <a:buNone/>
                </a:pPr>
                <a:endParaRPr lang="en-US"/>
              </a:p>
              <a:p>
                <a:pPr>
                  <a:buNone/>
                </a:pPr>
                <a:r>
                  <a:rPr lang="en-US"/>
                  <a:t>The transformer is the special case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53E0D4-E4B8-71FA-5687-79347EA8DD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651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BE20AC-F39A-285F-0707-A851F0D45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937" y="1227003"/>
            <a:ext cx="8297952" cy="516483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D06F09-5F0E-42F4-95D4-8F4AC7080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113" y="466165"/>
            <a:ext cx="10515600" cy="47513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ctr">
              <a:buNone/>
            </a:pPr>
            <a:r>
              <a:rPr lang="en-US"/>
              <a:t>“The Eiffel Tower is located in the city of “</a:t>
            </a:r>
          </a:p>
        </p:txBody>
      </p:sp>
    </p:spTree>
    <p:extLst>
      <p:ext uri="{BB962C8B-B14F-4D97-AF65-F5344CB8AC3E}">
        <p14:creationId xmlns:p14="http://schemas.microsoft.com/office/powerpoint/2010/main" val="2516255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E2BA0-1DBF-0D7F-81F3-88B88CE18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2F86D-345D-336E-D07A-9199C8C25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venir Book"/>
              </a:rPr>
              <a:t>The Problem with Logit Lens</a:t>
            </a:r>
            <a:endParaRPr lang="en-US" dirty="0">
              <a:latin typeface="Avenir Book" panose="02000503020000020003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F164A9-530C-45C1-55B6-92F4F418F6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When we write</a:t>
                </a:r>
              </a:p>
              <a:p>
                <a:pPr>
                  <a:buNone/>
                </a:pPr>
                <a:endParaRPr lang="en-US" dirty="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len</m:t>
                      </m:r>
                      <m:sSub>
                        <m:sSubPr>
                          <m:ctrlPr>
                            <a:rPr lang="en-US" i="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sub>
                      </m:sSub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norm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 marL="0">
                  <a:buNone/>
                </a:pPr>
                <a:r>
                  <a:rPr lang="en-US" dirty="0"/>
                  <a:t>we are expecting the unembedding matrix to </a:t>
                </a:r>
                <a:r>
                  <a:rPr lang="en-US"/>
                  <a:t>act on arbitrary </a:t>
                </a:r>
                <a:r>
                  <a:rPr lang="en-US" dirty="0"/>
                  <a:t>choices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dirty="0"/>
                  <a:t>.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F164A9-530C-45C1-55B6-92F4F418F6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9527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9BDF1-CE4B-4A3A-5A32-4C87D55D1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9A2D4-F12C-50C9-E76C-FD5EC4962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Avenir Book" panose="02000503020000020003" pitchFamily="2" charset="0"/>
              </a:rPr>
              <a:t>Enter: J-Lens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7803E7-1658-895D-9BEC-D0A146A16C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 fontScale="70000" lnSpcReduction="20000"/>
              </a:bodyPr>
              <a:lstStyle/>
              <a:p>
                <a:pPr>
                  <a:buNone/>
                </a:pPr>
                <a:endParaRPr lang="en-US"/>
              </a:p>
              <a:p>
                <a:pPr>
                  <a:buNone/>
                </a:pPr>
                <a:r>
                  <a:rPr lang="en-US"/>
                  <a:t>Replace</a:t>
                </a:r>
              </a:p>
              <a:p>
                <a:pPr>
                  <a:buNone/>
                </a:pPr>
                <a:endParaRPr lang="en-US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len</m:t>
                      </m:r>
                      <m:sSub>
                        <m:sSubPr>
                          <m:ctrlPr>
                            <a:rPr lang="en-US" i="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sub>
                      </m:sSub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norm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/>
              </a:p>
              <a:p>
                <a:pPr>
                  <a:buNone/>
                </a:pPr>
                <a:endParaRPr lang="en-US"/>
              </a:p>
              <a:p>
                <a:pPr marL="0">
                  <a:buNone/>
                </a:pPr>
                <a:r>
                  <a:rPr lang="en-US"/>
                  <a:t>with</a:t>
                </a:r>
              </a:p>
              <a:p>
                <a:pPr marL="0">
                  <a:buNone/>
                </a:pPr>
                <a:endParaRPr lang="en-US"/>
              </a:p>
              <a:p>
                <a:pPr marL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0" dirty="0">
                          <a:latin typeface="Cambria Math" panose="02040503050406030204" pitchFamily="18" charset="0"/>
                        </a:rPr>
                        <m:t>len</m:t>
                      </m:r>
                      <m:sSub>
                        <m:sSubPr>
                          <m:ctrlPr>
                            <a:rPr lang="en-US" i="0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ℓ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norm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dirty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/>
              </a:p>
              <a:p>
                <a:pPr marL="0">
                  <a:buNone/>
                </a:pPr>
                <a:endParaRPr lang="en-US"/>
              </a:p>
              <a:p>
                <a:pPr marL="0">
                  <a:buNone/>
                </a:pPr>
                <a:r>
                  <a:rPr lang="en-US"/>
                  <a:t>where </a:t>
                </a:r>
              </a:p>
              <a:p>
                <a:pPr marL="0">
                  <a:buNone/>
                </a:pPr>
                <a:endParaRPr lang="en-US"/>
              </a:p>
              <a:p>
                <a:pPr marL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1" dirty="0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prompt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i="0" dirty="0" smtClean="0">
                                      <a:latin typeface="Cambria Math" panose="02040503050406030204" pitchFamily="18" charset="0"/>
                                    </a:rPr>
                                    <m:t>final</m:t>
                                  </m:r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</m:num>
                            <m:den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r>
                                    <a:rPr lang="en-US" i="1" dirty="0" err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 dirty="0" err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/>
              </a:p>
              <a:p>
                <a:pPr marL="0">
                  <a:buNone/>
                </a:pPr>
                <a:endParaRPr lang="en-US"/>
              </a:p>
              <a:p>
                <a:pPr>
                  <a:buNone/>
                </a:pPr>
                <a:endParaRPr lang="en-US"/>
              </a:p>
              <a:p>
                <a:pPr>
                  <a:buNone/>
                </a:pPr>
                <a:endParaRPr lang="en-US"/>
              </a:p>
              <a:p>
                <a:pPr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7803E7-1658-895D-9BEC-D0A146A16C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0700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1A6CD0-7DE0-5CC3-0D69-F3248792E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032" y="1547884"/>
            <a:ext cx="11235778" cy="353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907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992FE-43AA-1616-EE1D-A7F8B0FE2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5B617-4176-BFE5-5B06-BE07B99FB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Avenir Book" panose="02000503020000020003" pitchFamily="2" charset="0"/>
              </a:rPr>
              <a:t>How to read from the J-Lens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2F081F-1D50-9DA9-73CD-6917E78627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pPr>
                  <a:buNone/>
                </a:pPr>
                <a:endParaRPr lang="en-US"/>
              </a:p>
              <a:p>
                <a:pPr>
                  <a:buNone/>
                </a:pPr>
                <a:r>
                  <a:rPr lang="en-US"/>
                  <a:t>If you want the whole thing:</a:t>
                </a:r>
              </a:p>
              <a:p>
                <a:pPr marL="0">
                  <a:buNone/>
                </a:pPr>
                <a:endParaRPr lang="en-US"/>
              </a:p>
              <a:p>
                <a:pPr marL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0" dirty="0">
                          <a:latin typeface="Cambria Math" panose="02040503050406030204" pitchFamily="18" charset="0"/>
                        </a:rPr>
                        <m:t>len</m:t>
                      </m:r>
                      <m:sSub>
                        <m:sSubPr>
                          <m:ctrlPr>
                            <a:rPr lang="en-US" i="0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ℓ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norm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dirty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/>
              </a:p>
              <a:p>
                <a:pPr marL="0">
                  <a:buNone/>
                </a:pPr>
                <a:endParaRPr lang="en-US"/>
              </a:p>
              <a:p>
                <a:pPr marL="0">
                  <a:buNone/>
                </a:pPr>
                <a:r>
                  <a:rPr lang="en-US"/>
                  <a:t>If you only want token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/>
                  <a:t>:</a:t>
                </a:r>
              </a:p>
              <a:p>
                <a:pPr marL="0">
                  <a:buNone/>
                </a:pPr>
                <a:r>
                  <a:rPr lang="en-US"/>
                  <a:t>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ℓ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ℓ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b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ℓ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sub>
                          </m:sSub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/>
              </a:p>
              <a:p>
                <a:pPr>
                  <a:buNone/>
                </a:pPr>
                <a:endParaRPr lang="en-US"/>
              </a:p>
              <a:p>
                <a:pPr>
                  <a:buNone/>
                </a:pPr>
                <a:endParaRPr lang="en-US"/>
              </a:p>
              <a:p>
                <a:pPr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2F081F-1D50-9DA9-73CD-6917E78627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1975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0AE1D-5B93-81B4-2FE2-D2D92F933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F9F8EE-797E-DB4D-45BC-8EB451A7B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842" y="325720"/>
            <a:ext cx="8900316" cy="620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119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01FE0-2EBD-AF9E-03B7-E7A55682B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B277A-4005-8ABB-913F-0CA652ACB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Avenir Book" panose="02000503020000020003" pitchFamily="2" charset="0"/>
              </a:rPr>
              <a:t>What is the J-Space?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81FEB7-90FE-81AC-8631-B933F2F8F1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pPr>
                  <a:buNone/>
                </a:pPr>
                <a:endParaRPr lang="en-US" b="0" i="1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:endParaRPr lang="en-US" i="1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:endParaRPr lang="en-US" b="0" i="1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im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sub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b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/>
              </a:p>
              <a:p>
                <a:pPr>
                  <a:buNone/>
                </a:pPr>
                <a:endParaRPr lang="en-US"/>
              </a:p>
              <a:p>
                <a:pPr>
                  <a:buNone/>
                </a:pPr>
                <a:endParaRPr lang="en-US"/>
              </a:p>
              <a:p>
                <a:pPr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81FEB7-90FE-81AC-8631-B933F2F8F1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4568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F4A6E-2418-B082-73C2-DB19AAEEB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641D7-D77A-2E9A-7F5B-F55857BD9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Avenir Book" panose="02000503020000020003" pitchFamily="2" charset="0"/>
              </a:rPr>
              <a:t>How to write to the J-Lens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80E75A-2498-F6F8-1D0B-7A2C49DF49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pPr>
                  <a:buNone/>
                </a:pPr>
                <a:r>
                  <a:rPr lang="en-US"/>
                  <a:t>Activation steering at layer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/>
                  <a:t>:</a:t>
                </a:r>
              </a:p>
              <a:p>
                <a:pPr>
                  <a:buNone/>
                </a:pPr>
                <a:endParaRPr lang="en-US"/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ℓ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ℓ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>
                  <a:buNone/>
                </a:pPr>
                <a:endParaRPr lang="en-US"/>
              </a:p>
              <a:p>
                <a:pPr marL="0">
                  <a:buNone/>
                </a:pPr>
                <a:r>
                  <a:rPr lang="en-US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/>
                  <a:t> is some activation steering vector. </a:t>
                </a:r>
              </a:p>
              <a:p>
                <a:pPr marL="0">
                  <a:buNone/>
                </a:pPr>
                <a:endParaRPr lang="en-US"/>
              </a:p>
              <a:p>
                <a:pPr marL="0">
                  <a:buNone/>
                </a:pPr>
                <a:r>
                  <a:rPr lang="en-US"/>
                  <a:t>Writing a single token to the J-lens is the special case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/>
                  <a:t>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80E75A-2498-F6F8-1D0B-7A2C49DF49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5380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E0B6B-19DB-A7C4-7D77-C395F8C4E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52E64-52A6-24A0-5564-EDB7AC0AA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Avenir Book" panose="02000503020000020003" pitchFamily="2" charset="0"/>
              </a:rPr>
              <a:t>How to exchange concepts in the J-Lens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24CFBC-BD78-6FB0-106D-A9906E3D67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pPr marL="514350" indent="-514350">
                  <a:buAutoNum type="arabicPeriod"/>
                </a:pPr>
                <a:r>
                  <a:rPr lang="en-US" dirty="0"/>
                  <a:t>Project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dirty="0"/>
                  <a:t> onto the subspace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err="1" smtClean="0">
                        <a:latin typeface="Cambria Math" panose="02040503050406030204" pitchFamily="18" charset="0"/>
                      </a:rPr>
                      <m:t>span</m:t>
                    </m:r>
                    <m:r>
                      <m:rPr>
                        <m:lit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lit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. This gives us the “coordinate vector”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.</a:t>
                </a:r>
                <a:br>
                  <a:rPr lang="en-US" dirty="0"/>
                </a:br>
                <a:endParaRPr lang="en-US" dirty="0"/>
              </a:p>
              <a:p>
                <a:pPr marL="514350" indent="-514350">
                  <a:buAutoNum type="arabicPeriod"/>
                </a:pPr>
                <a:r>
                  <a:rPr lang="en-US" dirty="0"/>
                  <a:t>Remove the vector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b="0" i="0" dirty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b="0" i="0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>
                      <m:sSubPr>
                        <m:ctrlPr>
                          <a:rPr lang="en-US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en-US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br>
                  <a:rPr lang="en-US" b="0" dirty="0"/>
                </a:br>
                <a:endParaRPr lang="en-US" b="0" dirty="0"/>
              </a:p>
              <a:p>
                <a:pPr marL="514350" indent="-514350">
                  <a:buAutoNum type="arabicPeriod"/>
                </a:pPr>
                <a:r>
                  <a:rPr lang="en-US" dirty="0"/>
                  <a:t>Swap the coordinates to get a new coordinate vector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br>
                  <a:rPr lang="en-US" dirty="0"/>
                </a:br>
                <a:endParaRPr lang="en-US" dirty="0"/>
              </a:p>
              <a:p>
                <a:pPr marL="514350" indent="-514350">
                  <a:buAutoNum type="arabicPeriod"/>
                </a:pPr>
                <a:r>
                  <a:rPr lang="en-US" dirty="0"/>
                  <a:t>Add the swapped coordinates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24CFBC-BD78-6FB0-106D-A9906E3D67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3840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ADDCD-4DCA-E50A-13D4-D6E586A68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3F3F6E-67B9-0FA4-960A-083373A88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675" y="623846"/>
            <a:ext cx="8550650" cy="561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732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E5EAE-D212-D5F9-2219-BB5081F4F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A13616-25D2-831B-35B9-1D56B6559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08" y="1335181"/>
            <a:ext cx="11026384" cy="12651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586395-A2AB-80DF-215C-52B942081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651" y="3585238"/>
            <a:ext cx="9478698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160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D1257-E77C-0529-0B4F-761B222DA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AA7568-F832-A2D9-2E75-F6471376EF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265"/>
          <a:stretch>
            <a:fillRect/>
          </a:stretch>
        </p:blipFill>
        <p:spPr>
          <a:xfrm>
            <a:off x="1359115" y="1098506"/>
            <a:ext cx="9666694" cy="5824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2FEF59-6B34-DE6C-C975-EC055494B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47337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Why Global Workspace Theory?</a:t>
            </a:r>
          </a:p>
        </p:txBody>
      </p:sp>
    </p:spTree>
    <p:extLst>
      <p:ext uri="{BB962C8B-B14F-4D97-AF65-F5344CB8AC3E}">
        <p14:creationId xmlns:p14="http://schemas.microsoft.com/office/powerpoint/2010/main" val="567906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93BD3-6206-FB25-21B7-F33B2257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60F1B1A-DE0D-031A-D09E-9561904494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6763" b="53362"/>
          <a:stretch>
            <a:fillRect/>
          </a:stretch>
        </p:blipFill>
        <p:spPr>
          <a:xfrm>
            <a:off x="1359115" y="1098506"/>
            <a:ext cx="3212885" cy="292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7338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03E9C9F-5D27-89FB-ACF7-7C96B118F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664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The J-Space </a:t>
            </a:r>
            <a:r>
              <a:rPr lang="en-US" i="1" dirty="0">
                <a:latin typeface="Avenir Book" panose="02000503020000020003" pitchFamily="2" charset="0"/>
              </a:rPr>
              <a:t>Supports</a:t>
            </a:r>
            <a:r>
              <a:rPr lang="en-US" dirty="0">
                <a:latin typeface="Avenir Book" panose="02000503020000020003" pitchFamily="2" charset="0"/>
              </a:rPr>
              <a:t> Verbal Report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03CB37-A8AD-E3DA-1252-B0A24A898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997" y="1453227"/>
            <a:ext cx="7140240" cy="5247126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DDFE22-BC9D-D077-9837-20797F67E910}"/>
              </a:ext>
            </a:extLst>
          </p:cNvPr>
          <p:cNvSpPr txBox="1"/>
          <p:nvPr/>
        </p:nvSpPr>
        <p:spPr>
          <a:xfrm rot="21447815">
            <a:off x="435143" y="2184487"/>
            <a:ext cx="2692336" cy="3323987"/>
          </a:xfrm>
          <a:prstGeom prst="rect">
            <a:avLst/>
          </a:prstGeom>
          <a:solidFill>
            <a:srgbClr val="FFFD78">
              <a:alpha val="69804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For swap, they isolate the part of the residual-stream activation aligned with two J-lens concept directions, exchange how strongly the activation aligns with each direction, preserve the remaining activation, and then continue the forward pass normally.</a:t>
            </a:r>
          </a:p>
          <a:p>
            <a:endParaRPr lang="en-US" sz="1400" b="1" dirty="0"/>
          </a:p>
          <a:p>
            <a:r>
              <a:rPr lang="en-US" sz="1400" dirty="0"/>
              <a:t>In this example, they subtract the projection onto the </a:t>
            </a:r>
            <a:r>
              <a:rPr lang="en-US" sz="1400" b="1" dirty="0"/>
              <a:t>Soccer </a:t>
            </a:r>
            <a:r>
              <a:rPr lang="en-US" sz="1400" dirty="0"/>
              <a:t>lens vector and add an equal-magnitude projection onto the </a:t>
            </a:r>
            <a:r>
              <a:rPr lang="en-US" sz="1400" b="1" dirty="0"/>
              <a:t>Rugby</a:t>
            </a:r>
            <a:r>
              <a:rPr lang="en-US" sz="1400" dirty="0"/>
              <a:t> lens vector.</a:t>
            </a:r>
          </a:p>
        </p:txBody>
      </p:sp>
    </p:spTree>
    <p:extLst>
      <p:ext uri="{BB962C8B-B14F-4D97-AF65-F5344CB8AC3E}">
        <p14:creationId xmlns:p14="http://schemas.microsoft.com/office/powerpoint/2010/main" val="42938486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42A75-2267-AF2C-9017-DC9533FCA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8B7F154-C23D-A248-EAFF-8BA2B7D9F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The J-Space </a:t>
            </a:r>
            <a:r>
              <a:rPr lang="en-US" b="1" i="1" dirty="0">
                <a:latin typeface="Avenir Book" panose="02000503020000020003" pitchFamily="2" charset="0"/>
              </a:rPr>
              <a:t>Supports</a:t>
            </a:r>
            <a:r>
              <a:rPr lang="en-US" dirty="0">
                <a:latin typeface="Avenir Book" panose="02000503020000020003" pitchFamily="2" charset="0"/>
              </a:rPr>
              <a:t> Verbal Report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F90B74-EC9E-7550-B63C-B7BBBCD7F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959" y="1690688"/>
            <a:ext cx="9512896" cy="49764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BCA793-8921-7226-84AA-3070BF2F202A}"/>
              </a:ext>
            </a:extLst>
          </p:cNvPr>
          <p:cNvSpPr txBox="1"/>
          <p:nvPr/>
        </p:nvSpPr>
        <p:spPr>
          <a:xfrm>
            <a:off x="6007395" y="1162567"/>
            <a:ext cx="1466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(not causes)</a:t>
            </a:r>
          </a:p>
        </p:txBody>
      </p:sp>
    </p:spTree>
    <p:extLst>
      <p:ext uri="{BB962C8B-B14F-4D97-AF65-F5344CB8AC3E}">
        <p14:creationId xmlns:p14="http://schemas.microsoft.com/office/powerpoint/2010/main" val="3495152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5BB8E-DE5F-A561-F896-38263C800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40280C5-EE4D-0ED4-68DA-F41EBF3A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3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Avenir Book" panose="02000503020000020003" pitchFamily="2" charset="0"/>
              </a:rPr>
              <a:t>The J-Space </a:t>
            </a:r>
            <a:r>
              <a:rPr lang="en-US" sz="2400" b="1" i="1" dirty="0">
                <a:latin typeface="Avenir Book" panose="02000503020000020003" pitchFamily="2" charset="0"/>
              </a:rPr>
              <a:t>Supports</a:t>
            </a:r>
            <a:r>
              <a:rPr lang="en-US" sz="2400" dirty="0">
                <a:latin typeface="Avenir Book" panose="02000503020000020003" pitchFamily="2" charset="0"/>
              </a:rPr>
              <a:t> Verbal Report;</a:t>
            </a:r>
            <a:br>
              <a:rPr lang="en-US" sz="2800" dirty="0">
                <a:latin typeface="Avenir Book" panose="02000503020000020003" pitchFamily="2" charset="0"/>
              </a:rPr>
            </a:br>
            <a:r>
              <a:rPr lang="en-US" sz="3200" dirty="0">
                <a:latin typeface="Avenir Book" panose="02000503020000020003" pitchFamily="2" charset="0"/>
              </a:rPr>
              <a:t>But what about representations outside the J-Space?</a:t>
            </a:r>
            <a:endParaRPr lang="en-US" sz="2800" dirty="0">
              <a:latin typeface="Avenir Book" panose="02000503020000020003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AC37A3-3181-C12E-4CCB-11A7F907F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86394"/>
            <a:ext cx="11066931" cy="5284770"/>
          </a:xfrm>
          <a:prstGeom prst="rect">
            <a:avLst/>
          </a:prstGeom>
        </p:spPr>
      </p:pic>
      <p:sp>
        <p:nvSpPr>
          <p:cNvPr id="7" name="Bent-Up Arrow 6">
            <a:extLst>
              <a:ext uri="{FF2B5EF4-FFF2-40B4-BE49-F238E27FC236}">
                <a16:creationId xmlns:a16="http://schemas.microsoft.com/office/drawing/2014/main" id="{280FD816-EADA-2377-18E4-F784381655D6}"/>
              </a:ext>
            </a:extLst>
          </p:cNvPr>
          <p:cNvSpPr/>
          <p:nvPr/>
        </p:nvSpPr>
        <p:spPr>
          <a:xfrm rot="10800000" flipH="1">
            <a:off x="0" y="3636335"/>
            <a:ext cx="2668772" cy="202018"/>
          </a:xfrm>
          <a:prstGeom prst="bentUp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ent-Up Arrow 7">
            <a:extLst>
              <a:ext uri="{FF2B5EF4-FFF2-40B4-BE49-F238E27FC236}">
                <a16:creationId xmlns:a16="http://schemas.microsoft.com/office/drawing/2014/main" id="{A659CE65-4A6D-921D-6CF4-704DD5C73BE7}"/>
              </a:ext>
            </a:extLst>
          </p:cNvPr>
          <p:cNvSpPr/>
          <p:nvPr/>
        </p:nvSpPr>
        <p:spPr>
          <a:xfrm rot="10800000" flipH="1">
            <a:off x="0" y="5001731"/>
            <a:ext cx="2860158" cy="202019"/>
          </a:xfrm>
          <a:prstGeom prst="bentUp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556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952C8-A6EA-E0D3-EBF3-F556226C5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F4F68A-F068-FFAE-9973-71CA3D1C8A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6763" b="53362"/>
          <a:stretch>
            <a:fillRect/>
          </a:stretch>
        </p:blipFill>
        <p:spPr>
          <a:xfrm>
            <a:off x="1359115" y="1098506"/>
            <a:ext cx="3212885" cy="292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523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BF3B5-7214-2916-1B87-6991D26E4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8E0A34-B090-AD4F-9E5C-C142834D13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899" t="3829" r="37146" b="53709"/>
          <a:stretch>
            <a:fillRect/>
          </a:stretch>
        </p:blipFill>
        <p:spPr>
          <a:xfrm>
            <a:off x="4539343" y="1338942"/>
            <a:ext cx="2895600" cy="266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3315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13DF3-771D-6FDD-0A6F-99264E077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1A5B51E-66F6-B04B-E2E7-A4C3395A4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Direct modulation of J-Space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EC30B0-5593-F1A7-6385-D4246DB32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98" y="1811832"/>
            <a:ext cx="11901603" cy="4681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190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98A20-F78B-13E8-5990-F55C1B569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3BD0989-0CCC-75CF-3985-A156DE2B4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Direct modulation of J-Space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12DC5A-EB18-B2BA-F15A-CBD5C8CB0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845" y="1596094"/>
            <a:ext cx="8620310" cy="50978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9369B9-A7F6-5C27-4A7B-929A4844BBFA}"/>
              </a:ext>
            </a:extLst>
          </p:cNvPr>
          <p:cNvSpPr txBox="1"/>
          <p:nvPr/>
        </p:nvSpPr>
        <p:spPr>
          <a:xfrm>
            <a:off x="5686097" y="999163"/>
            <a:ext cx="2851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“white bear” effect</a:t>
            </a:r>
          </a:p>
        </p:txBody>
      </p:sp>
    </p:spTree>
    <p:extLst>
      <p:ext uri="{BB962C8B-B14F-4D97-AF65-F5344CB8AC3E}">
        <p14:creationId xmlns:p14="http://schemas.microsoft.com/office/powerpoint/2010/main" val="29198964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B9B95-7E6D-B94C-4E03-4CEC22E82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E8F81A7-9BA8-65B1-8810-A61F4DEA1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Direct modulation of J-Space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5CFA24-5305-2C55-FC6C-21343953AF1F}"/>
              </a:ext>
            </a:extLst>
          </p:cNvPr>
          <p:cNvSpPr txBox="1"/>
          <p:nvPr/>
        </p:nvSpPr>
        <p:spPr>
          <a:xfrm>
            <a:off x="5686097" y="999163"/>
            <a:ext cx="3600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(not necessarily explicit)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D87284-21C9-4714-2BDC-E90631C4E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58" y="1875062"/>
            <a:ext cx="11803306" cy="347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7392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EB470-AF55-B674-1A84-4F44D9E7B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15369E4-1E3B-8F98-8773-B1BE47F6CC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899" t="3829" r="37146" b="53709"/>
          <a:stretch>
            <a:fillRect/>
          </a:stretch>
        </p:blipFill>
        <p:spPr>
          <a:xfrm>
            <a:off x="4539343" y="1338942"/>
            <a:ext cx="2895600" cy="266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333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0622F-135E-9016-701B-3C31AE7E4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FEAC840-D401-AAF4-DBCC-238B3DACB0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628" t="3655" r="5728" b="51282"/>
          <a:stretch>
            <a:fillRect/>
          </a:stretch>
        </p:blipFill>
        <p:spPr>
          <a:xfrm>
            <a:off x="7413171" y="1328056"/>
            <a:ext cx="3058886" cy="283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398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036C5-65F2-FB70-6529-8029B2E9A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1AC4026-9EA5-95BA-7563-E21229A70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J-Space</a:t>
            </a:r>
            <a:r>
              <a:rPr lang="ru-RU" dirty="0">
                <a:latin typeface="Avenir Book" panose="02000503020000020003" pitchFamily="2" charset="0"/>
              </a:rPr>
              <a:t> </a:t>
            </a:r>
            <a:r>
              <a:rPr lang="en-US" dirty="0">
                <a:latin typeface="Avenir Book" panose="02000503020000020003" pitchFamily="2" charset="0"/>
              </a:rPr>
              <a:t>and Internal Reasoning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2DF952-6905-2997-08A4-A7CC4A9F3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1783493"/>
            <a:ext cx="10467795" cy="3492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532A39-5CFD-3D5C-65D5-3AC4BAD095FD}"/>
              </a:ext>
            </a:extLst>
          </p:cNvPr>
          <p:cNvSpPr txBox="1"/>
          <p:nvPr/>
        </p:nvSpPr>
        <p:spPr>
          <a:xfrm>
            <a:off x="2459421" y="6285186"/>
            <a:ext cx="904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*</a:t>
            </a:r>
            <a:r>
              <a:rPr lang="en-US" b="1" dirty="0"/>
              <a:t>swapping lens coordinates in all these examples affects also affects the final output</a:t>
            </a:r>
          </a:p>
        </p:txBody>
      </p:sp>
    </p:spTree>
    <p:extLst>
      <p:ext uri="{BB962C8B-B14F-4D97-AF65-F5344CB8AC3E}">
        <p14:creationId xmlns:p14="http://schemas.microsoft.com/office/powerpoint/2010/main" val="2371747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320BF-9505-7B4B-CD29-B8CB2634D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695FA49-7394-BE74-546D-97296AC4C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J-Space</a:t>
            </a:r>
            <a:r>
              <a:rPr lang="ru-RU" dirty="0">
                <a:latin typeface="Avenir Book" panose="02000503020000020003" pitchFamily="2" charset="0"/>
              </a:rPr>
              <a:t> </a:t>
            </a:r>
            <a:r>
              <a:rPr lang="en-US" dirty="0">
                <a:latin typeface="Avenir Book" panose="02000503020000020003" pitchFamily="2" charset="0"/>
              </a:rPr>
              <a:t>and Internal Reasoning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F49A40-7BF8-6940-1A92-1E19E7386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486" y="1602494"/>
            <a:ext cx="8189235" cy="51556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D70486-46AE-2AD2-0534-DD64379B6B59}"/>
              </a:ext>
            </a:extLst>
          </p:cNvPr>
          <p:cNvSpPr txBox="1"/>
          <p:nvPr/>
        </p:nvSpPr>
        <p:spPr>
          <a:xfrm>
            <a:off x="5686097" y="999163"/>
            <a:ext cx="35379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(some decision-making)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5D21B6-EC2D-2103-053D-C4671AC94D68}"/>
              </a:ext>
            </a:extLst>
          </p:cNvPr>
          <p:cNvSpPr txBox="1"/>
          <p:nvPr/>
        </p:nvSpPr>
        <p:spPr>
          <a:xfrm rot="292850">
            <a:off x="147145" y="2816772"/>
            <a:ext cx="1749134" cy="1015663"/>
          </a:xfrm>
          <a:prstGeom prst="rect">
            <a:avLst/>
          </a:prstGeom>
          <a:solidFill>
            <a:srgbClr val="FFFD78">
              <a:alpha val="69804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200" b="1" dirty="0"/>
              <a:t>*swapping here refers to lens coordinate-swap of the relevant </a:t>
            </a:r>
          </a:p>
          <a:p>
            <a:r>
              <a:rPr lang="en-US" sz="1200" b="1" dirty="0"/>
              <a:t>j-space component between the prompts</a:t>
            </a:r>
          </a:p>
        </p:txBody>
      </p:sp>
    </p:spTree>
    <p:extLst>
      <p:ext uri="{BB962C8B-B14F-4D97-AF65-F5344CB8AC3E}">
        <p14:creationId xmlns:p14="http://schemas.microsoft.com/office/powerpoint/2010/main" val="18921285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2C424-70A8-CE37-A421-030945ABD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3E4FDA0-26F1-599F-63BB-C42D80FC6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J-Space</a:t>
            </a:r>
            <a:r>
              <a:rPr lang="ru-RU" dirty="0">
                <a:latin typeface="Avenir Book" panose="02000503020000020003" pitchFamily="2" charset="0"/>
              </a:rPr>
              <a:t> </a:t>
            </a:r>
            <a:r>
              <a:rPr lang="en-US" dirty="0">
                <a:latin typeface="Avenir Book" panose="02000503020000020003" pitchFamily="2" charset="0"/>
              </a:rPr>
              <a:t>and Internal Reasoning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B10016-F930-DE52-2281-1230BB93523A}"/>
              </a:ext>
            </a:extLst>
          </p:cNvPr>
          <p:cNvSpPr txBox="1"/>
          <p:nvPr/>
        </p:nvSpPr>
        <p:spPr>
          <a:xfrm>
            <a:off x="5686097" y="999163"/>
            <a:ext cx="37598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incl. multi-step reasoning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8D6861-283A-ECAD-20A2-099E1BDAF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42" y="1737015"/>
            <a:ext cx="11457389" cy="412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9896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5189D-88E1-E7E4-D380-D31BFB4E2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9F816C0-164E-D846-1362-575BD59D3D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628" t="3655" r="5728" b="51282"/>
          <a:stretch>
            <a:fillRect/>
          </a:stretch>
        </p:blipFill>
        <p:spPr>
          <a:xfrm>
            <a:off x="7413171" y="1328056"/>
            <a:ext cx="3058886" cy="283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365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9BE5B-A0EA-D573-E858-98A89172C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58A4F05-EC8C-E1C4-3482-0C7C16B10F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22" t="47331" r="52464" b="6045"/>
          <a:stretch>
            <a:fillRect/>
          </a:stretch>
        </p:blipFill>
        <p:spPr>
          <a:xfrm>
            <a:off x="2144486" y="3799113"/>
            <a:ext cx="3810000" cy="292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4212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70F6D-059B-5925-AFB6-022B11417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265D1A1-A3BD-03CF-0AD6-B91BFB9FC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J-Space</a:t>
            </a:r>
            <a:r>
              <a:rPr lang="ru-RU" dirty="0">
                <a:latin typeface="Avenir Book" panose="02000503020000020003" pitchFamily="2" charset="0"/>
              </a:rPr>
              <a:t> </a:t>
            </a:r>
            <a:r>
              <a:rPr lang="en-US" dirty="0">
                <a:latin typeface="Avenir Book" panose="02000503020000020003" pitchFamily="2" charset="0"/>
              </a:rPr>
              <a:t>and Flexible Generalization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5C35F9-69C5-D1EC-FE65-5720989B2D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556"/>
          <a:stretch>
            <a:fillRect/>
          </a:stretch>
        </p:blipFill>
        <p:spPr>
          <a:xfrm>
            <a:off x="238048" y="2648192"/>
            <a:ext cx="6162213" cy="28080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700D73-FA6E-910D-F6C1-EC18566206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2" t="46823" r="-592" b="11111"/>
          <a:stretch>
            <a:fillRect/>
          </a:stretch>
        </p:blipFill>
        <p:spPr>
          <a:xfrm>
            <a:off x="6083967" y="2791326"/>
            <a:ext cx="6178735" cy="26649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F99FD4-36F3-53E0-CA59-323571BE4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315" t="89057" r="1315" b="-4160"/>
          <a:stretch>
            <a:fillRect/>
          </a:stretch>
        </p:blipFill>
        <p:spPr>
          <a:xfrm>
            <a:off x="406368" y="5646393"/>
            <a:ext cx="8785759" cy="13605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C92CBE-156D-9591-A76C-C169B8617C37}"/>
              </a:ext>
            </a:extLst>
          </p:cNvPr>
          <p:cNvSpPr txBox="1"/>
          <p:nvPr/>
        </p:nvSpPr>
        <p:spPr>
          <a:xfrm>
            <a:off x="633176" y="1195918"/>
            <a:ext cx="107206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“A defining property of the global workspace in human brains is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broadcast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a representation written to the workspace becomes available to many consuming processes, rather than only to the process that produced it”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4866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62B6F-AF9D-EC19-FE19-C5653621F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D27A057-DB7D-BAE5-86BF-EEC46C8D5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J-Space</a:t>
            </a:r>
            <a:r>
              <a:rPr lang="ru-RU" dirty="0">
                <a:latin typeface="Avenir Book" panose="02000503020000020003" pitchFamily="2" charset="0"/>
              </a:rPr>
              <a:t> </a:t>
            </a:r>
            <a:r>
              <a:rPr lang="en-US" dirty="0">
                <a:latin typeface="Avenir Book" panose="02000503020000020003" pitchFamily="2" charset="0"/>
              </a:rPr>
              <a:t>and Flexible Generalization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8C1501-C04B-BF3D-9494-3B3A0EFEB712}"/>
              </a:ext>
            </a:extLst>
          </p:cNvPr>
          <p:cNvSpPr txBox="1"/>
          <p:nvPr/>
        </p:nvSpPr>
        <p:spPr>
          <a:xfrm>
            <a:off x="4601018" y="1146335"/>
            <a:ext cx="71228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However, the efficacy of such generalization is context-dependent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A78A94-854F-7333-7502-066F8E70E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814" y="1737820"/>
            <a:ext cx="8632371" cy="512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2458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88B98-8492-2ECE-6099-EB487235D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69909EA-E61C-9C74-B813-7411470D8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J-Space</a:t>
            </a:r>
            <a:r>
              <a:rPr lang="ru-RU" dirty="0">
                <a:latin typeface="Avenir Book" panose="02000503020000020003" pitchFamily="2" charset="0"/>
              </a:rPr>
              <a:t> </a:t>
            </a:r>
            <a:r>
              <a:rPr lang="en-US" dirty="0">
                <a:latin typeface="Avenir Book" panose="02000503020000020003" pitchFamily="2" charset="0"/>
              </a:rPr>
              <a:t>and Flexible Generalization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B8A0BF-1076-996F-B5B0-14DCA5F71B1D}"/>
              </a:ext>
            </a:extLst>
          </p:cNvPr>
          <p:cNvSpPr txBox="1"/>
          <p:nvPr/>
        </p:nvSpPr>
        <p:spPr>
          <a:xfrm>
            <a:off x="4601018" y="1146335"/>
            <a:ext cx="71228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However, the efficacy of such generalization is context-dependent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30E646-4440-A24C-F403-EF82D1423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002" y="1727938"/>
            <a:ext cx="8789312" cy="4852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3066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66729-75C6-ADCB-37C7-159391C21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15B735B-1C20-C6A9-9611-57748DE4C3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22" t="47331" r="52464" b="6045"/>
          <a:stretch>
            <a:fillRect/>
          </a:stretch>
        </p:blipFill>
        <p:spPr>
          <a:xfrm>
            <a:off x="2144486" y="3799113"/>
            <a:ext cx="3810000" cy="292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320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F7904-9221-69F3-8C95-D8B545E4D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8B66D3-24E0-A550-BE62-07BE9A4D94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874" t="47331" r="9221" b="6045"/>
          <a:stretch>
            <a:fillRect/>
          </a:stretch>
        </p:blipFill>
        <p:spPr>
          <a:xfrm>
            <a:off x="5987142" y="3799113"/>
            <a:ext cx="4147457" cy="292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0913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D1D73-110B-CFA5-20AE-0A5B3B3AA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8286B57-3E02-5ADF-1546-F76F5F437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What does NOT require J-space?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F4B3C8-29A4-1634-D949-1C0213E81E0F}"/>
              </a:ext>
            </a:extLst>
          </p:cNvPr>
          <p:cNvSpPr txBox="1"/>
          <p:nvPr/>
        </p:nvSpPr>
        <p:spPr>
          <a:xfrm>
            <a:off x="4601018" y="1146335"/>
            <a:ext cx="71228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authors claim that similarly to automatic processes in humans,</a:t>
            </a:r>
          </a:p>
          <a:p>
            <a:r>
              <a:rPr lang="en-US" b="1" dirty="0"/>
              <a:t>LLMs also have “conscious” and “non-conscious” processing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A2D292-D523-E185-DCB8-CDFB3224B4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1205"/>
          <a:stretch>
            <a:fillRect/>
          </a:stretch>
        </p:blipFill>
        <p:spPr>
          <a:xfrm>
            <a:off x="393541" y="1972377"/>
            <a:ext cx="11509463" cy="39959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69502D-4E93-83E5-98E9-0D109AEDC466}"/>
              </a:ext>
            </a:extLst>
          </p:cNvPr>
          <p:cNvSpPr txBox="1"/>
          <p:nvPr/>
        </p:nvSpPr>
        <p:spPr>
          <a:xfrm>
            <a:off x="1839685" y="6071625"/>
            <a:ext cx="5660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78BBBB-D299-56D9-5EDF-97A86679C266}"/>
              </a:ext>
            </a:extLst>
          </p:cNvPr>
          <p:cNvSpPr txBox="1"/>
          <p:nvPr/>
        </p:nvSpPr>
        <p:spPr>
          <a:xfrm>
            <a:off x="5921829" y="6091908"/>
            <a:ext cx="6749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5CB2AC-649D-306F-CB43-DFF3DAA00FBB}"/>
              </a:ext>
            </a:extLst>
          </p:cNvPr>
          <p:cNvSpPr txBox="1"/>
          <p:nvPr/>
        </p:nvSpPr>
        <p:spPr>
          <a:xfrm>
            <a:off x="9437915" y="6148025"/>
            <a:ext cx="1164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✅</a:t>
            </a:r>
          </a:p>
        </p:txBody>
      </p:sp>
    </p:spTree>
    <p:extLst>
      <p:ext uri="{BB962C8B-B14F-4D97-AF65-F5344CB8AC3E}">
        <p14:creationId xmlns:p14="http://schemas.microsoft.com/office/powerpoint/2010/main" val="12120699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61831-BFBD-0887-4BB0-142AF000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B693598-1116-B9AE-56D1-8E7F95C02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What does NOT require J-space?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4E20C9-FDE0-710B-A477-425871D915AF}"/>
              </a:ext>
            </a:extLst>
          </p:cNvPr>
          <p:cNvSpPr txBox="1"/>
          <p:nvPr/>
        </p:nvSpPr>
        <p:spPr>
          <a:xfrm>
            <a:off x="4601018" y="1146335"/>
            <a:ext cx="71228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authors claim that similarly to automatic processes in humans,</a:t>
            </a:r>
          </a:p>
          <a:p>
            <a:r>
              <a:rPr lang="en-US" b="1" dirty="0"/>
              <a:t>LLMs also have “conscious” and “non-conscious” processing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84436D-1CA2-AEA1-088E-EE89266679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792" t="49340" r="792" b="1865"/>
          <a:stretch>
            <a:fillRect/>
          </a:stretch>
        </p:blipFill>
        <p:spPr>
          <a:xfrm>
            <a:off x="341268" y="2231869"/>
            <a:ext cx="11509463" cy="39959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96E6A7-1A8C-B7AF-B8CD-F5FDE923D6CA}"/>
              </a:ext>
            </a:extLst>
          </p:cNvPr>
          <p:cNvSpPr txBox="1"/>
          <p:nvPr/>
        </p:nvSpPr>
        <p:spPr>
          <a:xfrm>
            <a:off x="1752601" y="6334780"/>
            <a:ext cx="1164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65C86F-F96F-1482-286B-FF9143E234E8}"/>
              </a:ext>
            </a:extLst>
          </p:cNvPr>
          <p:cNvSpPr txBox="1"/>
          <p:nvPr/>
        </p:nvSpPr>
        <p:spPr>
          <a:xfrm>
            <a:off x="5627915" y="6334780"/>
            <a:ext cx="1164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✅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22BCBA-9E9A-D8FD-5F54-8F3945E4EEF6}"/>
              </a:ext>
            </a:extLst>
          </p:cNvPr>
          <p:cNvSpPr txBox="1"/>
          <p:nvPr/>
        </p:nvSpPr>
        <p:spPr>
          <a:xfrm>
            <a:off x="9503229" y="6334780"/>
            <a:ext cx="1164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✅</a:t>
            </a:r>
          </a:p>
        </p:txBody>
      </p:sp>
    </p:spTree>
    <p:extLst>
      <p:ext uri="{BB962C8B-B14F-4D97-AF65-F5344CB8AC3E}">
        <p14:creationId xmlns:p14="http://schemas.microsoft.com/office/powerpoint/2010/main" val="24863749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02003-F4BE-4C06-31F4-55EEC6D54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62AC71C-9685-2BDA-C2C9-8F94DAB0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What does NOT require J-space?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EAA28C-67AA-3BF6-C21E-C8FB7B3F5788}"/>
              </a:ext>
            </a:extLst>
          </p:cNvPr>
          <p:cNvSpPr txBox="1"/>
          <p:nvPr/>
        </p:nvSpPr>
        <p:spPr>
          <a:xfrm>
            <a:off x="90802" y="1312747"/>
            <a:ext cx="71228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- rates of target appearing in J-lens are comparable between the conditions, but their functions roles does not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644BEF-ED33-B01F-EDE7-256D43B80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53" y="2363116"/>
            <a:ext cx="11762747" cy="4161251"/>
          </a:xfrm>
          <a:prstGeom prst="rect">
            <a:avLst/>
          </a:prstGeom>
        </p:spPr>
      </p:pic>
      <p:sp>
        <p:nvSpPr>
          <p:cNvPr id="5" name="Bent-Up Arrow 4">
            <a:extLst>
              <a:ext uri="{FF2B5EF4-FFF2-40B4-BE49-F238E27FC236}">
                <a16:creationId xmlns:a16="http://schemas.microsoft.com/office/drawing/2014/main" id="{BF5ADC84-DE4F-DBFE-057D-A4709F0D7157}"/>
              </a:ext>
            </a:extLst>
          </p:cNvPr>
          <p:cNvSpPr/>
          <p:nvPr/>
        </p:nvSpPr>
        <p:spPr>
          <a:xfrm rot="10800000" flipH="1">
            <a:off x="-1" y="2161098"/>
            <a:ext cx="6190735" cy="202018"/>
          </a:xfrm>
          <a:prstGeom prst="bentUp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Bent-Up Arrow 6">
            <a:extLst>
              <a:ext uri="{FF2B5EF4-FFF2-40B4-BE49-F238E27FC236}">
                <a16:creationId xmlns:a16="http://schemas.microsoft.com/office/drawing/2014/main" id="{59D6DC05-5D7A-1CBC-4E38-A7A78A8F5318}"/>
              </a:ext>
            </a:extLst>
          </p:cNvPr>
          <p:cNvSpPr/>
          <p:nvPr/>
        </p:nvSpPr>
        <p:spPr>
          <a:xfrm rot="10800000" flipH="1">
            <a:off x="-1" y="1959079"/>
            <a:ext cx="10515599" cy="404036"/>
          </a:xfrm>
          <a:prstGeom prst="bentUp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9707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827E3-6CE2-3CB7-2163-B99622DFE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9F66100-C586-A287-1170-38DF3B059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4713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What does NOT require J-space?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795A15-BC9A-C5B7-02C8-7DA98D097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82" y="978789"/>
            <a:ext cx="7772400" cy="58792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06D93A-E88C-FF54-673D-E1A343D096D2}"/>
              </a:ext>
            </a:extLst>
          </p:cNvPr>
          <p:cNvSpPr txBox="1"/>
          <p:nvPr/>
        </p:nvSpPr>
        <p:spPr>
          <a:xfrm rot="292850">
            <a:off x="397962" y="2821401"/>
            <a:ext cx="2161013" cy="1169551"/>
          </a:xfrm>
          <a:prstGeom prst="rect">
            <a:avLst/>
          </a:prstGeom>
          <a:solidFill>
            <a:srgbClr val="FFFD78">
              <a:alpha val="69804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Comparison between theses three conditions shows that a concept can be called to J-space on demand</a:t>
            </a:r>
          </a:p>
        </p:txBody>
      </p:sp>
    </p:spTree>
    <p:extLst>
      <p:ext uri="{BB962C8B-B14F-4D97-AF65-F5344CB8AC3E}">
        <p14:creationId xmlns:p14="http://schemas.microsoft.com/office/powerpoint/2010/main" val="14456274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00C31-647E-2EDB-DA55-D371B050C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32B42E5-5888-D503-B005-FD165BEFF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86497"/>
            <a:ext cx="11179629" cy="1325563"/>
          </a:xfrm>
        </p:spPr>
        <p:txBody>
          <a:bodyPr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Some tasks do not require J-space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CDC871-DCF7-D324-823C-9B74D890880E}"/>
              </a:ext>
            </a:extLst>
          </p:cNvPr>
          <p:cNvSpPr txBox="1"/>
          <p:nvPr/>
        </p:nvSpPr>
        <p:spPr>
          <a:xfrm rot="231993">
            <a:off x="1186180" y="1056741"/>
            <a:ext cx="4258945" cy="1384995"/>
          </a:xfrm>
          <a:prstGeom prst="rect">
            <a:avLst/>
          </a:prstGeom>
          <a:solidFill>
            <a:srgbClr val="FFFD78">
              <a:alpha val="69804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highlight>
                  <a:srgbClr val="FFCE3C"/>
                </a:highlight>
              </a:rPr>
              <a:t>Ablation</a:t>
            </a:r>
            <a:r>
              <a:rPr lang="en-US" sz="1400" b="1" dirty="0"/>
              <a:t> is done by zeroing out projections of residual stream on TOP-10 J-lens vectors </a:t>
            </a:r>
            <a:br>
              <a:rPr lang="en-US" sz="1400" b="1" dirty="0"/>
            </a:br>
            <a:r>
              <a:rPr lang="en-US" sz="1400" b="1" dirty="0"/>
              <a:t>(expect for tokens that appear in the top-10 for final output of a clear feedforward pass);</a:t>
            </a:r>
          </a:p>
          <a:p>
            <a:endParaRPr lang="en-US" sz="1400" b="1" dirty="0"/>
          </a:p>
          <a:p>
            <a:r>
              <a:rPr lang="en-US" sz="1400" b="1" dirty="0"/>
              <a:t>degree of ablation differs by N of affects layers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FE46B6-2FF9-C50A-46CF-E35D972A7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55" y="2733879"/>
            <a:ext cx="6867426" cy="3382716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647AA3B-D244-8A1F-2001-3050EA74D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750595"/>
              </p:ext>
            </p:extLst>
          </p:nvPr>
        </p:nvGraphicFramePr>
        <p:xfrm>
          <a:off x="7522182" y="1574192"/>
          <a:ext cx="4189963" cy="45424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5352">
                  <a:extLst>
                    <a:ext uri="{9D8B030D-6E8A-4147-A177-3AD203B41FA5}">
                      <a16:colId xmlns:a16="http://schemas.microsoft.com/office/drawing/2014/main" val="2169089234"/>
                    </a:ext>
                  </a:extLst>
                </a:gridCol>
                <a:gridCol w="2994611">
                  <a:extLst>
                    <a:ext uri="{9D8B030D-6E8A-4147-A177-3AD203B41FA5}">
                      <a16:colId xmlns:a16="http://schemas.microsoft.com/office/drawing/2014/main" val="1465221993"/>
                    </a:ext>
                  </a:extLst>
                </a:gridCol>
              </a:tblGrid>
              <a:tr h="274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/>
                        <a:t>Task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/>
                        <a:t>What the model must do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3558859659"/>
                  </a:ext>
                </a:extLst>
              </a:tr>
              <a:tr h="2744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MMLU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Answer multiple-choice questions across subjects such as science, history, law, and medicine.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2524658933"/>
                  </a:ext>
                </a:extLst>
              </a:tr>
              <a:tr h="2744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Odd one out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Choose which item does not belong in a group;</a:t>
                      </a:r>
                      <a:br>
                        <a:rPr lang="en-US" sz="800" dirty="0"/>
                      </a:br>
                      <a:r>
                        <a:rPr lang="en-US" sz="800" dirty="0"/>
                        <a:t>for example, dog, cat, horse, table.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3758786691"/>
                  </a:ext>
                </a:extLst>
              </a:tr>
              <a:tr h="2744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SQuAD extractive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Find and copy the answer directly from a supplied passage. </a:t>
                      </a:r>
                      <a:br>
                        <a:rPr lang="en-US" sz="800" dirty="0"/>
                      </a:br>
                      <a:r>
                        <a:rPr lang="en-US" sz="800" dirty="0"/>
                        <a:t>No new answer needs to be composed.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2212153429"/>
                  </a:ext>
                </a:extLst>
              </a:tr>
              <a:tr h="2744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Sentiment classification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Label text as expressing positive or negative sentiment.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3189661349"/>
                  </a:ext>
                </a:extLst>
              </a:tr>
              <a:tr h="2744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CoLA acceptability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Judge whether an English sentence is grammatically acceptable.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1315865774"/>
                  </a:ext>
                </a:extLst>
              </a:tr>
              <a:tr h="2744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GSM8K (CoT)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Solve grade-school word problems while writing out intermediate reasoning steps, “chain of thought.”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1510595553"/>
                  </a:ext>
                </a:extLst>
              </a:tr>
              <a:tr h="392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GSM8K (no CoT)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Solve the same kind of math problems but provide the answer directly, without writing intermediate steps.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3532769874"/>
                  </a:ext>
                </a:extLst>
              </a:tr>
              <a:tr h="2744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Caesar decode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Decode text encrypted by shifting every letter by a fixed number of alphabet positions.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3502290245"/>
                  </a:ext>
                </a:extLst>
              </a:tr>
              <a:tr h="2744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Analogy completion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Complete a relationship such as “bird is to nest as bee is to ___.”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3594671678"/>
                  </a:ext>
                </a:extLst>
              </a:tr>
              <a:tr h="2744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Summarization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Produce a shorter text that preserves the important information from a longer passage.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2258133723"/>
                  </a:ext>
                </a:extLst>
              </a:tr>
              <a:tr h="2744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TriviaQA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Answer open-ended factual knowledge questions rather than choosing from supplied options.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618261909"/>
                  </a:ext>
                </a:extLst>
              </a:tr>
              <a:tr h="392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Multihop reasoning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Combine two or more facts to obtain an answer;</a:t>
                      </a:r>
                      <a:br>
                        <a:rPr lang="en-US" sz="800" dirty="0"/>
                      </a:br>
                      <a:r>
                        <a:rPr lang="en-US" sz="800" dirty="0"/>
                        <a:t>for example, identify a book’s author and then determine the author’s nationality.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2926332705"/>
                  </a:ext>
                </a:extLst>
              </a:tr>
              <a:tr h="2744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Translation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Translate a passage from one language into another.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118724919"/>
                  </a:ext>
                </a:extLst>
              </a:tr>
              <a:tr h="392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Sonnet writing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Compose a sonnet = a constrained 14-line poem. 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3272083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6254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A39E7-27D6-4027-E5F7-1B9EC960C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05DA049-F5BE-45E0-A87E-D513332B7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86497"/>
            <a:ext cx="11179629" cy="1325563"/>
          </a:xfrm>
        </p:spPr>
        <p:txBody>
          <a:bodyPr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J-space Ablation and Performance in Tasks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3023E5-013B-D005-518C-55855C4BE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063" y="1504121"/>
            <a:ext cx="10965874" cy="51676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C52025-D89A-CA4B-4DA7-37A6153DE624}"/>
              </a:ext>
            </a:extLst>
          </p:cNvPr>
          <p:cNvSpPr txBox="1"/>
          <p:nvPr/>
        </p:nvSpPr>
        <p:spPr>
          <a:xfrm>
            <a:off x="7746498" y="869734"/>
            <a:ext cx="3832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effects on “meta-language”</a:t>
            </a:r>
          </a:p>
        </p:txBody>
      </p:sp>
    </p:spTree>
    <p:extLst>
      <p:ext uri="{BB962C8B-B14F-4D97-AF65-F5344CB8AC3E}">
        <p14:creationId xmlns:p14="http://schemas.microsoft.com/office/powerpoint/2010/main" val="17425455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C27F8-F11F-EA1F-A354-5FA2A7BCC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3DBF8C1-7746-4AB2-039E-C2C5E14A38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874" t="47331" r="9221" b="6045"/>
          <a:stretch>
            <a:fillRect/>
          </a:stretch>
        </p:blipFill>
        <p:spPr>
          <a:xfrm>
            <a:off x="5987142" y="3799113"/>
            <a:ext cx="4147457" cy="292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0322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392A4-EC29-5C41-8A54-A50359567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15B694F-A88C-4CB6-3109-73541B1CA5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98" t="2267" r="2802" b="6740"/>
          <a:stretch>
            <a:fillRect/>
          </a:stretch>
        </p:blipFill>
        <p:spPr>
          <a:xfrm>
            <a:off x="674915" y="359229"/>
            <a:ext cx="10247249" cy="622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0281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8F7A9-A7AF-BF40-EAA6-453CB3567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7834D5-AECE-F5B9-E3D8-23BB5B3DE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145"/>
            <a:ext cx="12074236" cy="572408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0E89C2F-4E1E-13D6-A9BF-617A68A48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072" y="0"/>
            <a:ext cx="1117962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Avenir Book" panose="02000503020000020003" pitchFamily="2" charset="0"/>
              </a:rPr>
              <a:t>Structure &amp; Function. </a:t>
            </a:r>
            <a:br>
              <a:rPr lang="en-US" sz="4000" dirty="0">
                <a:latin typeface="Avenir Book" panose="02000503020000020003" pitchFamily="2" charset="0"/>
              </a:rPr>
            </a:br>
            <a:r>
              <a:rPr lang="en-US" sz="4000" dirty="0">
                <a:latin typeface="Avenir Book" panose="02000503020000020003" pitchFamily="2" charset="0"/>
              </a:rPr>
              <a:t>What layers are relevant?</a:t>
            </a:r>
          </a:p>
        </p:txBody>
      </p:sp>
    </p:spTree>
    <p:extLst>
      <p:ext uri="{BB962C8B-B14F-4D97-AF65-F5344CB8AC3E}">
        <p14:creationId xmlns:p14="http://schemas.microsoft.com/office/powerpoint/2010/main" val="7201440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ACAF1-BF72-8F63-CA08-0174B0531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3D43094-E079-A1A0-841D-A6B715CF5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072" y="0"/>
            <a:ext cx="1117962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Avenir Book" panose="02000503020000020003" pitchFamily="2" charset="0"/>
              </a:rPr>
              <a:t>Structure &amp; Function. </a:t>
            </a:r>
            <a:br>
              <a:rPr lang="en-US" sz="4000" dirty="0">
                <a:latin typeface="Avenir Book" panose="02000503020000020003" pitchFamily="2" charset="0"/>
              </a:rPr>
            </a:br>
            <a:r>
              <a:rPr lang="en-US" sz="4000" dirty="0">
                <a:latin typeface="Avenir Book" panose="02000503020000020003" pitchFamily="2" charset="0"/>
              </a:rPr>
              <a:t>What layers are relevant?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A42DC2-1374-85D3-EFFC-76BA4CF3E0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458" b="58984"/>
          <a:stretch>
            <a:fillRect/>
          </a:stretch>
        </p:blipFill>
        <p:spPr>
          <a:xfrm>
            <a:off x="64731" y="1325564"/>
            <a:ext cx="4268730" cy="22657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CE7268-A9A4-CAA5-C24B-E15FB9A19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461" y="1376662"/>
            <a:ext cx="7400670" cy="44293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7FCEBE-0EE7-D7EC-601C-218061C50C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018" t="-1199" r="2440" b="60183"/>
          <a:stretch>
            <a:fillRect/>
          </a:stretch>
        </p:blipFill>
        <p:spPr>
          <a:xfrm>
            <a:off x="64731" y="3691077"/>
            <a:ext cx="4268730" cy="226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2909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9DF90-9337-3726-B209-C698A4A83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50C8032-90DA-6CB0-2C67-A66EE58BB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072" y="0"/>
            <a:ext cx="1117962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Avenir Book" panose="02000503020000020003" pitchFamily="2" charset="0"/>
              </a:rPr>
              <a:t>Structure &amp; Function. </a:t>
            </a:r>
            <a:br>
              <a:rPr lang="en-US" sz="4000" dirty="0">
                <a:latin typeface="Avenir Book" panose="02000503020000020003" pitchFamily="2" charset="0"/>
              </a:rPr>
            </a:br>
            <a:r>
              <a:rPr lang="en-US" sz="4000" dirty="0">
                <a:latin typeface="Avenir Book" panose="02000503020000020003" pitchFamily="2" charset="0"/>
              </a:rPr>
              <a:t>J-Space Capacity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C36F6C-2D1E-77FB-D82C-F4E54EFB0F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31"/>
          <a:stretch>
            <a:fillRect/>
          </a:stretch>
        </p:blipFill>
        <p:spPr>
          <a:xfrm>
            <a:off x="4112494" y="1768908"/>
            <a:ext cx="7170128" cy="44656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C169FE9-2891-AB5B-5BDD-1B0DCD8321C7}"/>
              </a:ext>
            </a:extLst>
          </p:cNvPr>
          <p:cNvSpPr txBox="1"/>
          <p:nvPr/>
        </p:nvSpPr>
        <p:spPr>
          <a:xfrm rot="226867">
            <a:off x="819120" y="2413337"/>
            <a:ext cx="2692336" cy="2031325"/>
          </a:xfrm>
          <a:prstGeom prst="rect">
            <a:avLst/>
          </a:prstGeom>
          <a:solidFill>
            <a:srgbClr val="FFFD78">
              <a:alpha val="69804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To calculate occupancy,  they</a:t>
            </a:r>
          </a:p>
          <a:p>
            <a:r>
              <a:rPr lang="en-US" sz="1400" dirty="0"/>
              <a:t>approximate the residual-stream activation using K of J-lens vectors at every p and l.</a:t>
            </a:r>
          </a:p>
          <a:p>
            <a:endParaRPr lang="en-US" sz="1400" dirty="0"/>
          </a:p>
          <a:p>
            <a:r>
              <a:rPr lang="en-US" sz="1400" dirty="0"/>
              <a:t>They stop when adding another J-lens vector improves reconstruction less than adding a random direction.</a:t>
            </a:r>
          </a:p>
        </p:txBody>
      </p:sp>
      <p:sp>
        <p:nvSpPr>
          <p:cNvPr id="11" name="Bent-Up Arrow 10">
            <a:extLst>
              <a:ext uri="{FF2B5EF4-FFF2-40B4-BE49-F238E27FC236}">
                <a16:creationId xmlns:a16="http://schemas.microsoft.com/office/drawing/2014/main" id="{7F1B0CE7-E3D8-57C5-3181-1E1B8E3012DE}"/>
              </a:ext>
            </a:extLst>
          </p:cNvPr>
          <p:cNvSpPr/>
          <p:nvPr/>
        </p:nvSpPr>
        <p:spPr>
          <a:xfrm rot="10800000" flipH="1" flipV="1">
            <a:off x="1" y="6373091"/>
            <a:ext cx="10224654" cy="304799"/>
          </a:xfrm>
          <a:prstGeom prst="bentUp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FAE1B2-81DF-7FB8-403E-D5A9401871FE}"/>
              </a:ext>
            </a:extLst>
          </p:cNvPr>
          <p:cNvSpPr txBox="1"/>
          <p:nvPr/>
        </p:nvSpPr>
        <p:spPr>
          <a:xfrm>
            <a:off x="156527" y="6217714"/>
            <a:ext cx="61029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Colored lines are percentiles of token positions</a:t>
            </a:r>
          </a:p>
        </p:txBody>
      </p:sp>
    </p:spTree>
    <p:extLst>
      <p:ext uri="{BB962C8B-B14F-4D97-AF65-F5344CB8AC3E}">
        <p14:creationId xmlns:p14="http://schemas.microsoft.com/office/powerpoint/2010/main" val="39264145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760AA-A3BB-C6BB-C8A3-527AFD196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715B5CF-9F66-F53E-4715-A02ACAA0B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072" y="0"/>
            <a:ext cx="1117962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Avenir Book" panose="02000503020000020003" pitchFamily="2" charset="0"/>
              </a:rPr>
              <a:t>Structure &amp; Function. </a:t>
            </a:r>
            <a:br>
              <a:rPr lang="en-US" sz="4000" dirty="0">
                <a:latin typeface="Avenir Book" panose="02000503020000020003" pitchFamily="2" charset="0"/>
              </a:rPr>
            </a:br>
            <a:r>
              <a:rPr lang="en-US" sz="4000" dirty="0">
                <a:latin typeface="Avenir Book" panose="02000503020000020003" pitchFamily="2" charset="0"/>
              </a:rPr>
              <a:t>J-Space Capacity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449C68-1E33-558E-4AF8-B6A4E3E291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180"/>
          <a:stretch>
            <a:fillRect/>
          </a:stretch>
        </p:blipFill>
        <p:spPr>
          <a:xfrm>
            <a:off x="1388918" y="1881745"/>
            <a:ext cx="9414164" cy="465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6028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F8FA5-9686-BA08-A4FC-883EEB70B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419C3B-6464-7737-653D-62BDD24EC6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870" r="55460" b="25434"/>
          <a:stretch>
            <a:fillRect/>
          </a:stretch>
        </p:blipFill>
        <p:spPr>
          <a:xfrm>
            <a:off x="547252" y="912163"/>
            <a:ext cx="6989619" cy="56921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ED1290-3E34-EDDC-C7EF-33108C508BBA}"/>
              </a:ext>
            </a:extLst>
          </p:cNvPr>
          <p:cNvSpPr txBox="1"/>
          <p:nvPr/>
        </p:nvSpPr>
        <p:spPr>
          <a:xfrm rot="226867">
            <a:off x="8259010" y="2413338"/>
            <a:ext cx="2692336" cy="2031325"/>
          </a:xfrm>
          <a:prstGeom prst="rect">
            <a:avLst/>
          </a:prstGeom>
          <a:solidFill>
            <a:srgbClr val="FFFD78">
              <a:alpha val="69804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MLP gain is the amplification that come from MLP sublayers, which perform nonlinear computation at each token position across the model's depth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F17EA11-280A-D3E9-AFEC-F3BE11D72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072" y="0"/>
            <a:ext cx="1117962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Avenir Book" panose="02000503020000020003" pitchFamily="2" charset="0"/>
              </a:rPr>
              <a:t>Structure &amp; Function. </a:t>
            </a:r>
            <a:br>
              <a:rPr lang="en-US" sz="4000" dirty="0">
                <a:latin typeface="Avenir Book" panose="02000503020000020003" pitchFamily="2" charset="0"/>
              </a:rPr>
            </a:br>
            <a:r>
              <a:rPr lang="en-US" sz="4000" dirty="0">
                <a:latin typeface="Avenir Book" panose="02000503020000020003" pitchFamily="2" charset="0"/>
              </a:rPr>
              <a:t>Broadcasting across depth</a:t>
            </a:r>
          </a:p>
        </p:txBody>
      </p:sp>
    </p:spTree>
    <p:extLst>
      <p:ext uri="{BB962C8B-B14F-4D97-AF65-F5344CB8AC3E}">
        <p14:creationId xmlns:p14="http://schemas.microsoft.com/office/powerpoint/2010/main" val="1375569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C08C3-F8CE-B277-86CB-DFD4A6046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5154401-133F-2844-0423-5070A52D7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734" y="143567"/>
            <a:ext cx="5092043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Avenir Book" panose="02000503020000020003" pitchFamily="2" charset="0"/>
              </a:rPr>
              <a:t>Structure &amp; Function. </a:t>
            </a:r>
            <a:br>
              <a:rPr lang="en-US" sz="4000" dirty="0">
                <a:latin typeface="Avenir Book" panose="02000503020000020003" pitchFamily="2" charset="0"/>
              </a:rPr>
            </a:br>
            <a:r>
              <a:rPr lang="en-US" sz="4000" dirty="0">
                <a:latin typeface="Avenir Book" panose="02000503020000020003" pitchFamily="2" charset="0"/>
              </a:rPr>
              <a:t>Broadcasting across token </a:t>
            </a:r>
            <a:r>
              <a:rPr lang="en-US" sz="4000" dirty="0" err="1">
                <a:latin typeface="Avenir Book" panose="02000503020000020003" pitchFamily="2" charset="0"/>
              </a:rPr>
              <a:t>ps</a:t>
            </a:r>
            <a:endParaRPr lang="en-US" sz="4000" dirty="0">
              <a:latin typeface="Avenir Book" panose="02000503020000020003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AEBF43-B3A8-DAE1-BD8C-FDAC1F259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95" y="1796825"/>
            <a:ext cx="10480964" cy="49176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02D52F-FC4E-B78B-302F-C9AEC8EF211C}"/>
              </a:ext>
            </a:extLst>
          </p:cNvPr>
          <p:cNvSpPr txBox="1"/>
          <p:nvPr/>
        </p:nvSpPr>
        <p:spPr>
          <a:xfrm rot="285443">
            <a:off x="6129025" y="391201"/>
            <a:ext cx="6021502" cy="1200329"/>
          </a:xfrm>
          <a:prstGeom prst="rect">
            <a:avLst/>
          </a:prstGeom>
          <a:solidFill>
            <a:srgbClr val="FFFD78">
              <a:alpha val="69804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broadcast head</a:t>
            </a:r>
            <a:r>
              <a:rPr lang="en-US" dirty="0"/>
              <a:t> is an attention head that is especially good at carrying J-space representations from one token position to later positions while preserving what they represent.</a:t>
            </a:r>
          </a:p>
        </p:txBody>
      </p:sp>
    </p:spTree>
    <p:extLst>
      <p:ext uri="{BB962C8B-B14F-4D97-AF65-F5344CB8AC3E}">
        <p14:creationId xmlns:p14="http://schemas.microsoft.com/office/powerpoint/2010/main" val="5682458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C00A5-CD6E-BBA1-C7EC-7823A2E4A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705" y="-183903"/>
            <a:ext cx="11353800" cy="1325563"/>
          </a:xfrm>
        </p:spPr>
        <p:txBody>
          <a:bodyPr/>
          <a:lstStyle/>
          <a:p>
            <a:pPr algn="ctr"/>
            <a:r>
              <a:rPr lang="en-US" dirty="0"/>
              <a:t>Results in light of the theories of consciousness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63187A3-C5F5-BE51-FE5A-7D3A28204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502223"/>
              </p:ext>
            </p:extLst>
          </p:nvPr>
        </p:nvGraphicFramePr>
        <p:xfrm>
          <a:off x="149494" y="1060483"/>
          <a:ext cx="11893011" cy="5373068"/>
        </p:xfrm>
        <a:graphic>
          <a:graphicData uri="http://schemas.openxmlformats.org/drawingml/2006/table">
            <a:tbl>
              <a:tblPr firstRow="1">
                <a:tableStyleId>{91EBBBCC-DAD2-459C-BE2E-F6DE35CF9A28}</a:tableStyleId>
              </a:tblPr>
              <a:tblGrid>
                <a:gridCol w="2209709">
                  <a:extLst>
                    <a:ext uri="{9D8B030D-6E8A-4147-A177-3AD203B41FA5}">
                      <a16:colId xmlns:a16="http://schemas.microsoft.com/office/drawing/2014/main" val="156459801"/>
                    </a:ext>
                  </a:extLst>
                </a:gridCol>
                <a:gridCol w="5252211">
                  <a:extLst>
                    <a:ext uri="{9D8B030D-6E8A-4147-A177-3AD203B41FA5}">
                      <a16:colId xmlns:a16="http://schemas.microsoft.com/office/drawing/2014/main" val="2372461443"/>
                    </a:ext>
                  </a:extLst>
                </a:gridCol>
                <a:gridCol w="4431091">
                  <a:extLst>
                    <a:ext uri="{9D8B030D-6E8A-4147-A177-3AD203B41FA5}">
                      <a16:colId xmlns:a16="http://schemas.microsoft.com/office/drawing/2014/main" val="4185357009"/>
                    </a:ext>
                  </a:extLst>
                </a:gridCol>
              </a:tblGrid>
              <a:tr h="240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Avenir Book" panose="02000503020000020003" pitchFamily="2" charset="0"/>
                        </a:rPr>
                        <a:t>Theory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Avenir Book" panose="02000503020000020003" pitchFamily="2" charset="0"/>
                        </a:rPr>
                        <a:t>What fits the findings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Avenir Book" panose="02000503020000020003" pitchFamily="2" charset="0"/>
                        </a:rPr>
                        <a:t>What does not clearly fit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0049732"/>
                  </a:ext>
                </a:extLst>
              </a:tr>
              <a:tr h="1041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venir Book" panose="02000503020000020003" pitchFamily="2" charset="0"/>
                        </a:rPr>
                        <a:t>GWT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venir Book" panose="02000503020000020003" pitchFamily="2" charset="0"/>
                        </a:rPr>
                        <a:t>J-space is capacity-limited, becomes active relatively abruptly, supports report and flexible reasoning, and is broadly available to downstream components.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venir Book" panose="02000503020000020003" pitchFamily="2" charset="0"/>
                        </a:rPr>
                        <a:t>Transformers lack the recurrent, long-range cortical architecture from GWT. </a:t>
                      </a:r>
                      <a:br>
                        <a:rPr lang="en-US" sz="1800" dirty="0">
                          <a:latin typeface="Avenir Book" panose="02000503020000020003" pitchFamily="2" charset="0"/>
                        </a:rPr>
                      </a:br>
                      <a:br>
                        <a:rPr lang="en-US" sz="1800" dirty="0">
                          <a:latin typeface="Avenir Book" panose="02000503020000020003" pitchFamily="2" charset="0"/>
                        </a:rPr>
                      </a:br>
                      <a:r>
                        <a:rPr lang="en-US" sz="1800" dirty="0">
                          <a:latin typeface="Avenir Book" panose="02000503020000020003" pitchFamily="2" charset="0"/>
                        </a:rPr>
                        <a:t>Also, no clear competitive modules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3955623"/>
                  </a:ext>
                </a:extLst>
              </a:tr>
              <a:tr h="1041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venir Book" panose="02000503020000020003" pitchFamily="2" charset="0"/>
                        </a:rPr>
                        <a:t>Higher-order theories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venir Book" panose="02000503020000020003" pitchFamily="2" charset="0"/>
                        </a:rPr>
                        <a:t>Information can affect automatic behavior outside J-space but becomes reportable when re-encoded in J-space </a:t>
                      </a:r>
                      <a:br>
                        <a:rPr lang="en-US" sz="1800" dirty="0">
                          <a:latin typeface="Avenir Book" panose="02000503020000020003" pitchFamily="2" charset="0"/>
                        </a:rPr>
                      </a:br>
                      <a:r>
                        <a:rPr lang="en-US" sz="1800" dirty="0">
                          <a:latin typeface="Avenir Book" panose="02000503020000020003" pitchFamily="2" charset="0"/>
                        </a:rPr>
                        <a:t>(like first-order and higher-order representation).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venir Book" panose="02000503020000020003" pitchFamily="2" charset="0"/>
                        </a:rPr>
                        <a:t>It is unclear whether J-space represents the model representing X, as HOT requires, or simply represents X in some other way.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56967"/>
                  </a:ext>
                </a:extLst>
              </a:tr>
              <a:tr h="7573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Avenir Book" panose="02000503020000020003" pitchFamily="2" charset="0"/>
                        </a:rPr>
                        <a:t>Attention schema theory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venir Book" panose="02000503020000020003" pitchFamily="2" charset="0"/>
                        </a:rPr>
                        <a:t>J-space quite often contains metacognitive concepts such as thinking, focused, and feeling.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venir Book" panose="02000503020000020003" pitchFamily="2" charset="0"/>
                        </a:rPr>
                        <a:t>Does not imply actual internal model of attention. 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2802882"/>
                  </a:ext>
                </a:extLst>
              </a:tr>
              <a:tr h="8993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Avenir Book" panose="02000503020000020003" pitchFamily="2" charset="0"/>
                        </a:rPr>
                        <a:t>Recurrent processing theory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venir Book" panose="02000503020000020003" pitchFamily="2" charset="0"/>
                        </a:rPr>
                        <a:t>Information enters J-space only after substantial processing depth, which might functionally resemble the time required for recurrent processing.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venir Book" panose="02000503020000020003" pitchFamily="2" charset="0"/>
                        </a:rPr>
                        <a:t>forward pass has no actual recurrence </a:t>
                      </a:r>
                      <a:r>
                        <a:rPr lang="en-US" sz="1800" dirty="0">
                          <a:latin typeface="Avenir Book" panose="02000503020000020003" pitchFamily="2" charset="0"/>
                          <a:sym typeface="Wingdings" pitchFamily="2" charset="2"/>
                        </a:rPr>
                        <a:t> speculative</a:t>
                      </a:r>
                      <a:endParaRPr lang="en-US" sz="1800" dirty="0">
                        <a:latin typeface="Avenir Book" panose="02000503020000020003" pitchFamily="2" charset="0"/>
                      </a:endParaRP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5068678"/>
                  </a:ext>
                </a:extLst>
              </a:tr>
              <a:tr h="615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venir Book" panose="02000503020000020003" pitchFamily="2" charset="0"/>
                        </a:rPr>
                        <a:t>IIT (and some others)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Avenir Book" panose="02000503020000020003" pitchFamily="2" charset="0"/>
                        </a:rPr>
                        <a:t>N/A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i="1" dirty="0">
                          <a:latin typeface="Avenir Book" panose="02000503020000020003" pitchFamily="2" charset="0"/>
                        </a:rPr>
                        <a:t>The experiments study computational representations, not intrinsic causal structure (or biological substrate, etc.)</a:t>
                      </a:r>
                      <a:endParaRPr lang="en-US" sz="1800" dirty="0">
                        <a:latin typeface="Avenir Book" panose="02000503020000020003" pitchFamily="2" charset="0"/>
                      </a:endParaRP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847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8458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09929af-2d25-45bf-9837-089eb9cfbd01}" enabled="0" method="" siteId="{809929af-2d25-45bf-9837-089eb9cfbd0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1359</Words>
  <Application>Microsoft Macintosh PowerPoint</Application>
  <PresentationFormat>Widescreen</PresentationFormat>
  <Paragraphs>212</Paragraphs>
  <Slides>52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Aptos</vt:lpstr>
      <vt:lpstr>Aptos Display</vt:lpstr>
      <vt:lpstr>Arial</vt:lpstr>
      <vt:lpstr>Avenir Book</vt:lpstr>
      <vt:lpstr>Cambria Math</vt:lpstr>
      <vt:lpstr>Office Theme</vt:lpstr>
      <vt:lpstr>PowerPoint Presentation</vt:lpstr>
      <vt:lpstr>The Goal</vt:lpstr>
      <vt:lpstr>The Logit Lens</vt:lpstr>
      <vt:lpstr>The Logit Lens</vt:lpstr>
      <vt:lpstr>PowerPoint Presentation</vt:lpstr>
      <vt:lpstr>The Problem with Logit Lens</vt:lpstr>
      <vt:lpstr>Enter: J-Lens</vt:lpstr>
      <vt:lpstr>PowerPoint Presentation</vt:lpstr>
      <vt:lpstr>How to read from the J-Lens</vt:lpstr>
      <vt:lpstr>PowerPoint Presentation</vt:lpstr>
      <vt:lpstr>What is the J-Space? </vt:lpstr>
      <vt:lpstr>How to write to the J-Lens</vt:lpstr>
      <vt:lpstr>How to exchange concepts in the J-Lens</vt:lpstr>
      <vt:lpstr>PowerPoint Presentation</vt:lpstr>
      <vt:lpstr>PowerPoint Presentation</vt:lpstr>
      <vt:lpstr>Why Global Workspace Theory?</vt:lpstr>
      <vt:lpstr>PowerPoint Presentation</vt:lpstr>
      <vt:lpstr>The J-Space Supports Verbal Report</vt:lpstr>
      <vt:lpstr>The J-Space Supports Verbal Report</vt:lpstr>
      <vt:lpstr>The J-Space Supports Verbal Report; But what about representations outside the J-Space?</vt:lpstr>
      <vt:lpstr>PowerPoint Presentation</vt:lpstr>
      <vt:lpstr>PowerPoint Presentation</vt:lpstr>
      <vt:lpstr>Direct modulation of J-Space</vt:lpstr>
      <vt:lpstr>Direct modulation of J-Space</vt:lpstr>
      <vt:lpstr>Direct modulation of J-Space</vt:lpstr>
      <vt:lpstr>PowerPoint Presentation</vt:lpstr>
      <vt:lpstr>PowerPoint Presentation</vt:lpstr>
      <vt:lpstr>J-Space and Internal Reasoning</vt:lpstr>
      <vt:lpstr>J-Space and Internal Reasoning</vt:lpstr>
      <vt:lpstr>J-Space and Internal Reasoning</vt:lpstr>
      <vt:lpstr>PowerPoint Presentation</vt:lpstr>
      <vt:lpstr>PowerPoint Presentation</vt:lpstr>
      <vt:lpstr>J-Space and Flexible Generalization</vt:lpstr>
      <vt:lpstr>J-Space and Flexible Generalization</vt:lpstr>
      <vt:lpstr>J-Space and Flexible Generalization</vt:lpstr>
      <vt:lpstr>PowerPoint Presentation</vt:lpstr>
      <vt:lpstr>PowerPoint Presentation</vt:lpstr>
      <vt:lpstr>What does NOT require J-space?</vt:lpstr>
      <vt:lpstr>What does NOT require J-space?</vt:lpstr>
      <vt:lpstr>What does NOT require J-space?</vt:lpstr>
      <vt:lpstr>What does NOT require J-space?</vt:lpstr>
      <vt:lpstr>Some tasks do not require J-space</vt:lpstr>
      <vt:lpstr>J-space Ablation and Performance in Tasks</vt:lpstr>
      <vt:lpstr>PowerPoint Presentation</vt:lpstr>
      <vt:lpstr>PowerPoint Presentation</vt:lpstr>
      <vt:lpstr>Structure &amp; Function.  What layers are relevant?</vt:lpstr>
      <vt:lpstr>Structure &amp; Function.  What layers are relevant?</vt:lpstr>
      <vt:lpstr>Structure &amp; Function.  J-Space Capacity</vt:lpstr>
      <vt:lpstr>Structure &amp; Function.  J-Space Capacity</vt:lpstr>
      <vt:lpstr>Structure &amp; Function.  Broadcasting across depth</vt:lpstr>
      <vt:lpstr>Structure &amp; Function.  Broadcasting across token ps</vt:lpstr>
      <vt:lpstr>Results in light of the theories of consciousness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Bredikhin, Dimitri (Student)</dc:creator>
  <cp:lastModifiedBy>Bredikhin, Dimitri (Student)</cp:lastModifiedBy>
  <cp:revision>3</cp:revision>
  <dcterms:created xsi:type="dcterms:W3CDTF">2026-08-12T22:22:00Z</dcterms:created>
  <dcterms:modified xsi:type="dcterms:W3CDTF">2026-09-09T18:07:26Z</dcterms:modified>
</cp:coreProperties>
</file>